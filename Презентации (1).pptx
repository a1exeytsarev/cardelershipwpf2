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7" r:id="rId1"/>
  </p:sldMasterIdLst>
  <p:notesMasterIdLst>
    <p:notesMasterId r:id="rId12"/>
  </p:notesMasterIdLst>
  <p:sldIdLst>
    <p:sldId id="256" r:id="rId2"/>
    <p:sldId id="280" r:id="rId3"/>
    <p:sldId id="281" r:id="rId4"/>
    <p:sldId id="282" r:id="rId5"/>
    <p:sldId id="283" r:id="rId6"/>
    <p:sldId id="262" r:id="rId7"/>
    <p:sldId id="285" r:id="rId8"/>
    <p:sldId id="287" r:id="rId9"/>
    <p:sldId id="284" r:id="rId10"/>
    <p:sldId id="288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14" autoAdjust="0"/>
    <p:restoredTop sz="94070" autoAdjust="0"/>
  </p:normalViewPr>
  <p:slideViewPr>
    <p:cSldViewPr snapToGrid="0">
      <p:cViewPr varScale="1">
        <p:scale>
          <a:sx n="82" d="100"/>
          <a:sy n="82" d="100"/>
        </p:scale>
        <p:origin x="21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EE6B6-5D61-40ED-9AD8-BBAAB708A29C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8AE37-CCB3-4251-BDA7-63C2C6DF0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036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CDF79-7F47-40AF-8AE4-BF0917872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D9C8E2-D0E0-4691-9C16-850CD6BD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EF513A-04FF-4832-8E0A-BF35FEBF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D3672B-22D5-4EA4-B4FB-9FF8F160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59BAE0-ED5F-4BF2-9273-2C342A85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11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FCC9B-AF42-40B7-BE90-6AF0F193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E9877-8C0C-4A1C-B242-832AE76D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1870BF-92E7-4F23-9797-31701361A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FA47B4-5D72-40BD-9FC9-294AD571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610B89-FBC2-4CFB-BD5E-6265F52A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85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3B997-99D4-4CC4-A040-EEDF01B9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29DD27-117C-4973-8F91-1395B1446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D8B88C-D264-44DF-9319-4D6B90E4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6D805-FA9F-4E82-AE4F-AD71C519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B63EA7-CD11-4F57-8826-6425231D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94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08E7F-1388-4AD7-8FE7-AFFB1F8A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1AECFC-306A-4548-A81B-144AC5D3A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594844-1F4F-4B23-8448-5839B9E06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753B0A-63C8-41B4-A914-923EC8690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77FA8E-1994-4FCD-B419-EDDF9B59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65EA3F-35EF-45BC-BD42-54A2EDEE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6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42965-A0B4-4A5C-8588-C5BD6A41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68769C-40FE-46F9-8A0D-576DDDEE8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527DC0-D2A0-4867-90E8-8A410E557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CB7FDF-5CEF-462E-9784-D3351BD6F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ADA772-195F-4CD9-AF30-B97A97AF5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070DFE5-4B2C-4138-91CF-ED2C59E4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CB53ECC-4AC2-4B27-9749-053C1446F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B8563A-11AF-4B88-BA42-C8CE67CB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58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84619-141E-439A-A906-5E765728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96285C-F925-4E60-B411-77F536F2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F3382A-E3B9-4F39-A981-D40D8570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E45A57-235E-4D0C-9F19-1DC8223F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84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EC3895-6461-49D8-92C3-805432C4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9247659-A454-449C-845F-917A2C5B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A28733-F704-418A-8F11-312531CB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44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943FC-64FA-4F76-A291-F717BCA1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FFE4A0-0369-4409-8213-79FF0C735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DA66F0-7DB7-4372-9F80-B6BACF1BB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5F11C0-9319-45BB-BDB6-0660E84A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C4375B-B97A-4388-9FFB-7E54E1D8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EFA227-46A0-49E9-9B44-C829DD54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48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6F6C6-606A-48E7-93BB-3652214B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5596B1-5C7D-4B23-A266-70DBDAC7F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DD1CE3-823A-41D0-8B07-D86F22C57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F8BD61-C0A6-443E-BA9A-163E17CB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7D31E-33BC-45EA-9301-585DC714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60B6C2-C750-4FF4-BFB6-64412161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2179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84DCA-1C8B-40E3-BE70-828B6295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5C3595-C932-4A40-97DE-47E76E4A0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4BFE6B-9542-4190-8AA7-4C730DC1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D2A41E-A1A3-4C06-86DD-D1B0804A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EA9DEA-C934-4923-BFB7-3FB1055A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05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661BA69-4655-43B1-80C0-B055FE057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4B0885-0514-4FE1-A88F-7A145394F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9918DF-48DA-4209-870C-43FA4D04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1B0161-64A5-4681-BED3-3A5D2C63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F35047-AB13-4273-8AF6-DDFB049F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28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B369A-0C92-4854-B1BF-8514979B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CA0576-5858-4945-AA58-266147257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BBC22-0E09-4C3A-AA03-9074D9773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02B4D3-5AF9-499D-9C65-FF96C17BB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1152BB-6AA5-4DCA-B876-72235A50E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2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22035EA-BBE4-45B8-9B7D-BC6FBD99A14C}"/>
              </a:ext>
            </a:extLst>
          </p:cNvPr>
          <p:cNvSpPr/>
          <p:nvPr/>
        </p:nvSpPr>
        <p:spPr bwMode="auto">
          <a:xfrm>
            <a:off x="1997611" y="0"/>
            <a:ext cx="7665663" cy="1798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ПРАВИТЕЛЬСТВО САНКТ-ПЕТЕРБУРГА</a:t>
            </a:r>
            <a:endParaRPr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КОМИТЕТ ПО НАУКЕ И ВЫСШЕЙ ШКОЛЕ</a:t>
            </a:r>
            <a:endParaRPr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Санкт-Петербургское государственное бюджетное</a:t>
            </a:r>
            <a:endParaRPr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профессиональное образовательное учреждение</a:t>
            </a:r>
            <a:endParaRPr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«ПЕТРОВСКИЙ КОЛЛЕДЖ»</a:t>
            </a:r>
            <a:endParaRPr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(СПб ГБПОУ «Петровский колледж»)</a:t>
            </a:r>
            <a:endParaRPr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Отделение информационных технологий</a:t>
            </a:r>
            <a:endParaRPr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0050A62-F9BB-4AEE-83D3-351A68F10EE0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1969476" y="2523742"/>
            <a:ext cx="9144000" cy="1324547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2800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Проект по учебной практике</a:t>
            </a:r>
            <a:br>
              <a:rPr lang="ru-RU" sz="2800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</a:br>
            <a:r>
              <a:rPr lang="ru-RU" sz="28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Разработка сайта и веб приложения </a:t>
            </a:r>
            <a:r>
              <a:rPr lang="ru-RU" sz="29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«</a:t>
            </a:r>
            <a:r>
              <a:rPr lang="en-US" sz="2900" b="0" i="0" dirty="0" err="1">
                <a:solidFill>
                  <a:srgbClr val="F9FAFB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TasteTheWorld</a:t>
            </a:r>
            <a:r>
              <a:rPr lang="ru-RU" sz="29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»</a:t>
            </a:r>
            <a:endParaRPr sz="2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522D25E2-AA89-4521-868E-E19DBAAEE7C6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6300126" y="5446908"/>
            <a:ext cx="5759496" cy="32355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0000" lnSpcReduction="20000"/>
          </a:bodyPr>
          <a:lstStyle/>
          <a:p>
            <a:pPr>
              <a:defRPr/>
            </a:pPr>
            <a:r>
              <a:rPr lang="ru-RU" b="1" dirty="0">
                <a:solidFill>
                  <a:schemeClr val="bg1"/>
                </a:solidFill>
                <a:latin typeface="Verdana"/>
                <a:ea typeface="Verdana"/>
              </a:rPr>
              <a:t>Выполнил</a:t>
            </a:r>
            <a:r>
              <a:rPr lang="en-US" b="1" dirty="0">
                <a:solidFill>
                  <a:schemeClr val="bg1"/>
                </a:solidFill>
                <a:latin typeface="Verdana"/>
                <a:ea typeface="Verdana"/>
              </a:rPr>
              <a:t>: </a:t>
            </a:r>
            <a:r>
              <a:rPr lang="ru-RU" b="1" dirty="0">
                <a:solidFill>
                  <a:schemeClr val="bg1"/>
                </a:solidFill>
                <a:latin typeface="Verdana"/>
                <a:ea typeface="Verdana"/>
              </a:rPr>
              <a:t>Баранов И.С.</a:t>
            </a:r>
            <a:endParaRPr b="1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F7A3BACB-FE18-471E-A3CF-4E00D905550C}"/>
              </a:ext>
            </a:extLst>
          </p:cNvPr>
          <p:cNvSpPr txBox="1"/>
          <p:nvPr/>
        </p:nvSpPr>
        <p:spPr bwMode="auto">
          <a:xfrm>
            <a:off x="6531106" y="6005191"/>
            <a:ext cx="4670475" cy="32355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b="1" dirty="0">
                <a:solidFill>
                  <a:schemeClr val="bg1"/>
                </a:solidFill>
                <a:latin typeface="Verdana"/>
                <a:ea typeface="Verdana"/>
              </a:rPr>
              <a:t>Руководитель</a:t>
            </a:r>
            <a:r>
              <a:rPr lang="en-US" b="1" dirty="0">
                <a:solidFill>
                  <a:schemeClr val="bg1"/>
                </a:solidFill>
                <a:latin typeface="Verdana"/>
                <a:ea typeface="Verdana"/>
              </a:rPr>
              <a:t>: </a:t>
            </a:r>
            <a:r>
              <a:rPr lang="ru-RU" b="1" dirty="0">
                <a:solidFill>
                  <a:schemeClr val="bg1"/>
                </a:solidFill>
                <a:latin typeface="Verdana"/>
                <a:ea typeface="Verdana"/>
              </a:rPr>
              <a:t>Сергеева М.С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526146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32CA6E22-4CF3-4E09-8A2B-57532BBD3C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-481263" y="-108284"/>
            <a:ext cx="7140918" cy="1009644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24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Цель и задачи</a:t>
            </a:r>
            <a:endParaRPr sz="24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CD9F99-7519-46E7-AEB5-74FEFF5B5D3B}"/>
              </a:ext>
            </a:extLst>
          </p:cNvPr>
          <p:cNvSpPr txBox="1"/>
          <p:nvPr/>
        </p:nvSpPr>
        <p:spPr>
          <a:xfrm>
            <a:off x="184483" y="2105525"/>
            <a:ext cx="482466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 dirty="0">
                <a:effectLst/>
                <a:latin typeface="quote-cjk-patch"/>
              </a:rPr>
              <a:t>Цель учебной практики</a:t>
            </a:r>
          </a:p>
          <a:p>
            <a:pPr algn="l"/>
            <a:r>
              <a:rPr lang="ru-RU" sz="2400" b="0" i="0" dirty="0">
                <a:effectLst/>
                <a:latin typeface="quote-cjk-patch"/>
              </a:rPr>
              <a:t>Разработать комплексную систему «</a:t>
            </a:r>
            <a:r>
              <a:rPr lang="ru-RU" sz="2400" b="0" i="0" dirty="0" err="1">
                <a:effectLst/>
                <a:latin typeface="quote-cjk-patch"/>
              </a:rPr>
              <a:t>TasteTheWorld</a:t>
            </a:r>
            <a:r>
              <a:rPr lang="ru-RU" sz="2400" b="0" i="0" dirty="0">
                <a:effectLst/>
                <a:latin typeface="quote-cjk-patch"/>
              </a:rPr>
              <a:t>» — интернет-магазин зарубежных продуктов питания, включающую клиентское веб-приложение (</a:t>
            </a:r>
            <a:r>
              <a:rPr lang="ru-RU" sz="2400" b="0" i="0" u="none" strike="noStrike" dirty="0">
                <a:effectLst/>
                <a:latin typeface="quote-cjk-patch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ASP.NET</a:t>
            </a:r>
            <a:r>
              <a:rPr lang="ru-RU" sz="2400" b="0" i="0" dirty="0">
                <a:effectLst/>
                <a:latin typeface="quote-cjk-patch"/>
              </a:rPr>
              <a:t> Core MVC) и десктоп-приложение администратора (WPF).</a:t>
            </a:r>
          </a:p>
          <a:p>
            <a:pPr algn="l"/>
            <a:endParaRPr lang="ru-RU" sz="2400" b="0" i="0" dirty="0">
              <a:effectLst/>
              <a:latin typeface="quote-cjk-patch"/>
            </a:endParaRPr>
          </a:p>
        </p:txBody>
      </p:sp>
      <p:graphicFrame>
        <p:nvGraphicFramePr>
          <p:cNvPr id="62" name="Таблица 62">
            <a:extLst>
              <a:ext uri="{FF2B5EF4-FFF2-40B4-BE49-F238E27FC236}">
                <a16:creationId xmlns:a16="http://schemas.microsoft.com/office/drawing/2014/main" id="{604C661F-CA03-4A56-9947-49079B201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233136"/>
              </p:ext>
            </p:extLst>
          </p:nvPr>
        </p:nvGraphicFramePr>
        <p:xfrm>
          <a:off x="5013157" y="1470129"/>
          <a:ext cx="6994360" cy="468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180">
                  <a:extLst>
                    <a:ext uri="{9D8B030D-6E8A-4147-A177-3AD203B41FA5}">
                      <a16:colId xmlns:a16="http://schemas.microsoft.com/office/drawing/2014/main" val="3076780563"/>
                    </a:ext>
                  </a:extLst>
                </a:gridCol>
                <a:gridCol w="3497180">
                  <a:extLst>
                    <a:ext uri="{9D8B030D-6E8A-4147-A177-3AD203B41FA5}">
                      <a16:colId xmlns:a16="http://schemas.microsoft.com/office/drawing/2014/main" val="59999919"/>
                    </a:ext>
                  </a:extLst>
                </a:gridCol>
              </a:tblGrid>
              <a:tr h="381481"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Задача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059376894"/>
                  </a:ext>
                </a:extLst>
              </a:tr>
              <a:tr h="595646"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Проанализировать рынок существующих интернет-магазинов продуктов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687780979"/>
                  </a:ext>
                </a:extLst>
              </a:tr>
              <a:tr h="907186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Спроектировать базу данных для хранения информации о товарах, заказах, поставках и пользователях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690484760"/>
                  </a:ext>
                </a:extLst>
              </a:tr>
              <a:tr h="595646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Разработать веб-приложение для клиентов (каталог, корзина, заказы, отзывы)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122181279"/>
                  </a:ext>
                </a:extLst>
              </a:tr>
              <a:tr h="907186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Разработать WPF-приложение для администратора (управление товарами, заказами, поставками)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809947111"/>
                  </a:ext>
                </a:extLst>
              </a:tr>
              <a:tr h="595646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Создать интерфейсы и написать код программных модулей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982587444"/>
                  </a:ext>
                </a:extLst>
              </a:tr>
              <a:tr h="436430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Протестировать готовое комплексное решение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791513397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BAC9D783-DEB7-4A1D-BB00-2203B63C5D00}"/>
              </a:ext>
            </a:extLst>
          </p:cNvPr>
          <p:cNvSpPr txBox="1"/>
          <p:nvPr/>
        </p:nvSpPr>
        <p:spPr bwMode="auto">
          <a:xfrm>
            <a:off x="10075899" y="6483859"/>
            <a:ext cx="476464" cy="37414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ru-RU" b="1" dirty="0">
                <a:solidFill>
                  <a:schemeClr val="bg1"/>
                </a:solidFill>
              </a:rPr>
              <a:t>2</a:t>
            </a:r>
            <a:endParaRPr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341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32CA6E22-4CF3-4E09-8A2B-57532BBD3C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-481263" y="-108284"/>
            <a:ext cx="7140918" cy="1009644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20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Описание предметной области</a:t>
            </a:r>
            <a:endParaRPr sz="20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81944E-A5BD-4713-A459-7ADB9F2FF244}"/>
              </a:ext>
            </a:extLst>
          </p:cNvPr>
          <p:cNvSpPr txBox="1"/>
          <p:nvPr/>
        </p:nvSpPr>
        <p:spPr>
          <a:xfrm>
            <a:off x="815340" y="1573565"/>
            <a:ext cx="1056132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effectLst/>
                <a:latin typeface="quote-cjk-patch"/>
              </a:rPr>
              <a:t>Название системы: </a:t>
            </a:r>
            <a:r>
              <a:rPr lang="ru-RU" sz="2000" b="1" dirty="0" err="1">
                <a:effectLst/>
                <a:latin typeface="quote-cjk-patch"/>
              </a:rPr>
              <a:t>TasteTheWorld</a:t>
            </a:r>
            <a:endParaRPr lang="ru-RU" sz="2000" b="1" dirty="0">
              <a:effectLst/>
              <a:latin typeface="quote-cjk-patch"/>
            </a:endParaRPr>
          </a:p>
          <a:p>
            <a:pPr algn="ctr"/>
            <a:r>
              <a:rPr lang="ru-RU" sz="2000" b="1" i="0" dirty="0">
                <a:effectLst/>
                <a:latin typeface="quote-cjk-patch"/>
              </a:rPr>
              <a:t>Основная деятельность:</a:t>
            </a:r>
            <a:br>
              <a:rPr lang="ru-RU" sz="2000" b="0" i="0" dirty="0">
                <a:effectLst/>
                <a:latin typeface="quote-cjk-patch"/>
              </a:rPr>
            </a:br>
            <a:r>
              <a:rPr lang="ru-RU" sz="2000" b="0" i="0" dirty="0">
                <a:effectLst/>
                <a:latin typeface="quote-cjk-patch"/>
              </a:rPr>
              <a:t>Продажа импортных продуктов (сладости, </a:t>
            </a:r>
            <a:r>
              <a:rPr lang="ru-RU" sz="2000" b="0" i="0" dirty="0" err="1">
                <a:effectLst/>
                <a:latin typeface="quote-cjk-patch"/>
              </a:rPr>
              <a:t>снэки</a:t>
            </a:r>
            <a:r>
              <a:rPr lang="ru-RU" sz="2000" b="0" i="0" dirty="0">
                <a:effectLst/>
                <a:latin typeface="quote-cjk-patch"/>
              </a:rPr>
              <a:t>, напитки) из разных стран мира через веб-сайт, с управлением товарами, заказами, поставками и складами через десктоп-приложение.</a:t>
            </a:r>
          </a:p>
          <a:p>
            <a:pPr algn="ctr"/>
            <a:r>
              <a:rPr lang="ru-RU" sz="2000" b="1" i="0" dirty="0">
                <a:effectLst/>
                <a:latin typeface="quote-cjk-patch"/>
              </a:rPr>
              <a:t>Цель создания системы:</a:t>
            </a:r>
            <a:br>
              <a:rPr lang="ru-RU" sz="2000" b="0" i="0" dirty="0">
                <a:effectLst/>
                <a:latin typeface="quote-cjk-patch"/>
              </a:rPr>
            </a:br>
            <a:r>
              <a:rPr lang="ru-RU" sz="2000" b="0" i="0" dirty="0">
                <a:effectLst/>
                <a:latin typeface="quote-cjk-patch"/>
              </a:rPr>
              <a:t>Автоматизация процессов интернет-торговли зарубежными продуктами, обеспечение удобного интерфейса для клиентов и эффективного управления для сотрудников.</a:t>
            </a:r>
          </a:p>
          <a:p>
            <a:pPr algn="ctr"/>
            <a:r>
              <a:rPr lang="ru-RU" sz="2000" b="1" i="0" dirty="0">
                <a:effectLst/>
                <a:latin typeface="quote-cjk-patch"/>
              </a:rPr>
              <a:t>Категории пользователей:</a:t>
            </a:r>
            <a:endParaRPr lang="ru-RU" sz="2000" b="0" i="0" dirty="0">
              <a:effectLst/>
              <a:latin typeface="quote-cjk-patch"/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2000" b="1" i="0" dirty="0">
                <a:effectLst/>
                <a:latin typeface="quote-cjk-patch"/>
              </a:rPr>
              <a:t>Гости</a:t>
            </a:r>
            <a:r>
              <a:rPr lang="ru-RU" sz="2000" b="0" i="0" dirty="0">
                <a:effectLst/>
                <a:latin typeface="quote-cjk-patch"/>
              </a:rPr>
              <a:t> — просмотр каталога, поиск, фильтрация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2000" b="1" i="0" dirty="0">
                <a:effectLst/>
                <a:latin typeface="quote-cjk-patch"/>
              </a:rPr>
              <a:t>Авторизованные клиенты</a:t>
            </a:r>
            <a:r>
              <a:rPr lang="ru-RU" sz="2000" b="0" i="0" dirty="0">
                <a:effectLst/>
                <a:latin typeface="quote-cjk-patch"/>
              </a:rPr>
              <a:t> — корзина, заказы, избранное, отзывы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2000" b="1" i="0" dirty="0">
                <a:effectLst/>
                <a:latin typeface="quote-cjk-patch"/>
              </a:rPr>
              <a:t>Администраторы (WPF)</a:t>
            </a:r>
            <a:r>
              <a:rPr lang="ru-RU" sz="2000" b="0" i="0" dirty="0">
                <a:effectLst/>
                <a:latin typeface="quote-cjk-patch"/>
              </a:rPr>
              <a:t> — управление товарами, заказами, поставками, складами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C69C14-A2BE-4270-8595-DA0B237350F9}"/>
              </a:ext>
            </a:extLst>
          </p:cNvPr>
          <p:cNvSpPr txBox="1"/>
          <p:nvPr/>
        </p:nvSpPr>
        <p:spPr bwMode="auto">
          <a:xfrm>
            <a:off x="10075899" y="6483859"/>
            <a:ext cx="476464" cy="37414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3</a:t>
            </a:r>
            <a:endParaRPr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9804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32CA6E22-4CF3-4E09-8A2B-57532BBD3C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64785" y="-97536"/>
            <a:ext cx="5272719" cy="1009644"/>
          </a:xfrm>
        </p:spPr>
        <p:txBody>
          <a:bodyPr>
            <a:normAutofit/>
          </a:bodyPr>
          <a:lstStyle/>
          <a:p>
            <a:pPr algn="l"/>
            <a:r>
              <a:rPr lang="ru-RU" sz="2000" b="1" dirty="0">
                <a:solidFill>
                  <a:srgbClr val="F9FAFB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Анализ существующих аналогов</a:t>
            </a:r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B037EF49-345C-4153-84D6-B7767526B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155085"/>
              </p:ext>
            </p:extLst>
          </p:nvPr>
        </p:nvGraphicFramePr>
        <p:xfrm>
          <a:off x="1873504" y="1255776"/>
          <a:ext cx="812799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82714632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1182141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64708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Название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Плюсы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Минусы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030906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Ozon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Широкий ассортимент, быстрая доставка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Нет специализации на импортных продуктах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266800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Wildberries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Удобный интерфейс, акции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Сложный поиск редких товаров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742092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iHerb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Большой выбор зарубежных товаров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Долгая доставка, высокая цена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62205830"/>
                  </a:ext>
                </a:extLst>
              </a:tr>
              <a:tr h="479552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quote-cjk-patch"/>
                        </a:rPr>
                        <a:t>ВкусВилл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Качественные продукты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Только российские и ближнее зарубежье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035996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TasteTheWorld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 (</a:t>
                      </a:r>
                      <a:r>
                        <a:rPr lang="ru-RU" b="0">
                          <a:effectLst/>
                          <a:latin typeface="quote-cjk-patch"/>
                        </a:rPr>
                        <a:t>разрабатываемый)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Специализация на редких импортных продуктах, удобная админ-панель WPF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Нет мобильного приложения (в плане)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5495478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42166F0-A56A-49F5-BD40-0E941C8CC098}"/>
              </a:ext>
            </a:extLst>
          </p:cNvPr>
          <p:cNvSpPr txBox="1"/>
          <p:nvPr/>
        </p:nvSpPr>
        <p:spPr bwMode="auto">
          <a:xfrm>
            <a:off x="10075899" y="6483859"/>
            <a:ext cx="476464" cy="37414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4</a:t>
            </a:r>
            <a:endParaRPr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48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7B95EB0-D936-4F5E-9B13-906048A435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510" y="-264607"/>
            <a:ext cx="6544749" cy="1325561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20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Инструментальные и системные программные средства</a:t>
            </a:r>
            <a:endParaRPr sz="5400" b="1" dirty="0">
              <a:solidFill>
                <a:schemeClr val="bg1"/>
              </a:solidFill>
            </a:endParaRPr>
          </a:p>
        </p:txBody>
      </p:sp>
      <p:sp>
        <p:nvSpPr>
          <p:cNvPr id="8" name="AutoShape 4" descr="Picture background">
            <a:extLst>
              <a:ext uri="{FF2B5EF4-FFF2-40B4-BE49-F238E27FC236}">
                <a16:creationId xmlns:a16="http://schemas.microsoft.com/office/drawing/2014/main" id="{0875B44E-4117-4DE8-958F-8FC2220FD0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78480" cy="3078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E29852B-3D3C-4853-846D-BE5633367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25" y="2010156"/>
            <a:ext cx="3383280" cy="3383280"/>
          </a:xfrm>
          <a:prstGeom prst="rect">
            <a:avLst/>
          </a:prstGeom>
        </p:spPr>
      </p:pic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4BBD0F9C-A3E0-4A90-934E-5BBAF8816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6861" y="2331720"/>
            <a:ext cx="2625979" cy="2740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icture background">
            <a:extLst>
              <a:ext uri="{FF2B5EF4-FFF2-40B4-BE49-F238E27FC236}">
                <a16:creationId xmlns:a16="http://schemas.microsoft.com/office/drawing/2014/main" id="{AEEB2B62-F05B-48A6-B151-90A0AED4D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690" y="2694432"/>
            <a:ext cx="3447049" cy="1937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05403C0-3863-46DC-ACFA-4E1A0F4CDD3A}"/>
              </a:ext>
            </a:extLst>
          </p:cNvPr>
          <p:cNvSpPr txBox="1"/>
          <p:nvPr/>
        </p:nvSpPr>
        <p:spPr bwMode="auto">
          <a:xfrm>
            <a:off x="10075899" y="6483859"/>
            <a:ext cx="476464" cy="37414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5</a:t>
            </a:r>
            <a:endParaRPr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125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 bwMode="auto">
          <a:xfrm>
            <a:off x="754967" y="147521"/>
            <a:ext cx="4731433" cy="586632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18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Проектирование ПО информационной системы</a:t>
            </a:r>
            <a:endParaRPr sz="4800" b="1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AFB6B9-9C59-4180-BF65-8CAD93870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308" y="1621536"/>
            <a:ext cx="9011428" cy="389095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2005BDD-ACE9-4D96-A269-AA9C45FDCACB}"/>
              </a:ext>
            </a:extLst>
          </p:cNvPr>
          <p:cNvSpPr/>
          <p:nvPr/>
        </p:nvSpPr>
        <p:spPr bwMode="auto">
          <a:xfrm>
            <a:off x="4985254" y="5846543"/>
            <a:ext cx="22214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ctr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>
                <a:solidFill>
                  <a:srgbClr val="3585C7"/>
                </a:solidFill>
              </a:rPr>
              <a:t>Логическая схема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54E841-3437-4699-A973-0E68420B8B3F}"/>
              </a:ext>
            </a:extLst>
          </p:cNvPr>
          <p:cNvSpPr txBox="1"/>
          <p:nvPr/>
        </p:nvSpPr>
        <p:spPr bwMode="auto">
          <a:xfrm>
            <a:off x="10075899" y="6483859"/>
            <a:ext cx="476464" cy="37414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6</a:t>
            </a:r>
            <a:endParaRPr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Заголовок 2">
            <a:extLst>
              <a:ext uri="{FF2B5EF4-FFF2-40B4-BE49-F238E27FC236}">
                <a16:creationId xmlns:a16="http://schemas.microsoft.com/office/drawing/2014/main" id="{BE199A29-7BC5-4C43-A317-56B946C3F07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-439850" y="0"/>
            <a:ext cx="7441809" cy="853049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18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Функции </a:t>
            </a:r>
            <a:r>
              <a:rPr lang="en-US" sz="18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web </a:t>
            </a:r>
            <a:r>
              <a:rPr lang="ru-RU" sz="18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и </a:t>
            </a:r>
            <a:r>
              <a:rPr lang="en-US" sz="18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desktop </a:t>
            </a:r>
            <a:r>
              <a:rPr lang="ru-RU" sz="18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приложения</a:t>
            </a:r>
            <a:endParaRPr sz="48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687313-F3C1-48C8-9594-A0238A91E32D}"/>
              </a:ext>
            </a:extLst>
          </p:cNvPr>
          <p:cNvSpPr txBox="1"/>
          <p:nvPr/>
        </p:nvSpPr>
        <p:spPr>
          <a:xfrm>
            <a:off x="-219456" y="1843950"/>
            <a:ext cx="631545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effectLst/>
                <a:latin typeface="quote-cjk-patch"/>
              </a:rPr>
              <a:t>Функции веб-приложения (клиентская часть)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quote-cjk-patch"/>
              </a:rPr>
              <a:t>Просмотр каталога товаров с фильтрацией по категориям, странам, цене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quote-cjk-patch"/>
              </a:rPr>
              <a:t>Поиск товаров по названию и описанию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quote-cjk-patch"/>
              </a:rPr>
              <a:t>Сортировка товаров (по цене, популярности, новизне)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quote-cjk-patch"/>
              </a:rPr>
              <a:t>Регистрация и авторизация пользователей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quote-cjk-patch"/>
              </a:rPr>
              <a:t>Добавление товаров в корзину и избранное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quote-cjk-patch"/>
              </a:rPr>
              <a:t>Оформление заказов с выбором доставки и оплаты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quote-cjk-patch"/>
              </a:rPr>
              <a:t>Просмотр истории заказов и их статусов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quote-cjk-patch"/>
              </a:rPr>
              <a:t>Оставление отзывов и оценок на товары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1A2EE2-62FD-4D5D-B600-674BB18967EA}"/>
              </a:ext>
            </a:extLst>
          </p:cNvPr>
          <p:cNvSpPr txBox="1"/>
          <p:nvPr/>
        </p:nvSpPr>
        <p:spPr>
          <a:xfrm>
            <a:off x="5876544" y="1907868"/>
            <a:ext cx="63154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effectLst/>
                <a:latin typeface="quote-cjk-patch"/>
              </a:rPr>
              <a:t>Функции WPF-приложения (административная часть)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quote-cjk-patch"/>
              </a:rPr>
              <a:t>Управление товарами (CRUD, изображения, характеристики)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quote-cjk-patch"/>
              </a:rPr>
              <a:t>Управление категориями и странами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quote-cjk-patch"/>
              </a:rPr>
              <a:t>Управление заказами (изменение статусов)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quote-cjk-patch"/>
              </a:rPr>
              <a:t>Управление поставками и складами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quote-cjk-patch"/>
              </a:rPr>
              <a:t>Модерация отзывов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quote-cjk-patch"/>
              </a:rPr>
              <a:t>Просмотр и блокировка пользователей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quote-cjk-patch"/>
              </a:rPr>
              <a:t>Формирование отчётов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08029C-7653-41F4-9631-67C4949DA171}"/>
              </a:ext>
            </a:extLst>
          </p:cNvPr>
          <p:cNvSpPr txBox="1"/>
          <p:nvPr/>
        </p:nvSpPr>
        <p:spPr bwMode="auto">
          <a:xfrm>
            <a:off x="10075899" y="6483859"/>
            <a:ext cx="476464" cy="37414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7</a:t>
            </a:r>
            <a:endParaRPr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19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Заголовок 2">
            <a:extLst>
              <a:ext uri="{FF2B5EF4-FFF2-40B4-BE49-F238E27FC236}">
                <a16:creationId xmlns:a16="http://schemas.microsoft.com/office/drawing/2014/main" id="{1D5387C5-E747-4729-8988-4E564477A04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-708074" y="0"/>
            <a:ext cx="7441809" cy="853049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28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Заключение</a:t>
            </a:r>
            <a:endParaRPr sz="72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6D25A6-61BC-4308-9213-C0592D307333}"/>
              </a:ext>
            </a:extLst>
          </p:cNvPr>
          <p:cNvSpPr txBox="1"/>
          <p:nvPr/>
        </p:nvSpPr>
        <p:spPr>
          <a:xfrm>
            <a:off x="1716024" y="2213509"/>
            <a:ext cx="875995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С учётом выполнения всех поставленных задач, цель — разработать комплексную систему «</a:t>
            </a:r>
            <a:r>
              <a:rPr lang="ru-RU" sz="2400" b="0" i="0" dirty="0" err="1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TasteTheWorld</a:t>
            </a:r>
            <a:r>
              <a:rPr lang="ru-RU" sz="24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» для автоматизации интернет-торговли зарубежными продуктами — была выполнена успешно. Система готова к внедрению и дальнейшему развитию (мобильное приложение, интеграция с платёжными системами).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B57517-C0D2-448E-BB0A-C4DD60621728}"/>
              </a:ext>
            </a:extLst>
          </p:cNvPr>
          <p:cNvSpPr txBox="1"/>
          <p:nvPr/>
        </p:nvSpPr>
        <p:spPr bwMode="auto">
          <a:xfrm>
            <a:off x="10075899" y="6483859"/>
            <a:ext cx="476464" cy="37414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10</a:t>
            </a:r>
            <a:endParaRPr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206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22035EA-BBE4-45B8-9B7D-BC6FBD99A14C}"/>
              </a:ext>
            </a:extLst>
          </p:cNvPr>
          <p:cNvSpPr/>
          <p:nvPr/>
        </p:nvSpPr>
        <p:spPr bwMode="auto">
          <a:xfrm>
            <a:off x="1997611" y="0"/>
            <a:ext cx="7665663" cy="1798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ПРАВИТЕЛЬСТВО САНКТ-ПЕТЕРБУРГА</a:t>
            </a:r>
            <a:endParaRPr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КОМИТЕТ ПО НАУКЕ И ВЫСШЕЙ ШКОЛЕ</a:t>
            </a:r>
            <a:endParaRPr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Санкт-Петербургское государственное бюджетное</a:t>
            </a:r>
            <a:endParaRPr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профессиональное образовательное учреждение</a:t>
            </a:r>
            <a:endParaRPr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«ПЕТРОВСКИЙ КОЛЛЕДЖ»</a:t>
            </a:r>
            <a:endParaRPr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(СПб ГБПОУ «Петровский колледж»)</a:t>
            </a:r>
            <a:endParaRPr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Отделение информационных технологий</a:t>
            </a:r>
            <a:endParaRPr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0050A62-F9BB-4AEE-83D3-351A68F10EE0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1969476" y="2523742"/>
            <a:ext cx="9144000" cy="1324547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2800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Проект по учебной практике</a:t>
            </a:r>
            <a:br>
              <a:rPr lang="ru-RU" sz="2800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</a:br>
            <a:r>
              <a:rPr lang="ru-RU" sz="28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Разработка сайта и веб приложения </a:t>
            </a:r>
            <a:r>
              <a:rPr lang="ru-RU" sz="29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«</a:t>
            </a:r>
            <a:r>
              <a:rPr lang="en-US" sz="2900" b="0" i="0" dirty="0" err="1">
                <a:solidFill>
                  <a:srgbClr val="F9FAFB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TasteTheWorld</a:t>
            </a:r>
            <a:r>
              <a:rPr lang="ru-RU" sz="29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»</a:t>
            </a:r>
            <a:endParaRPr sz="2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522D25E2-AA89-4521-868E-E19DBAAEE7C6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6300126" y="5446908"/>
            <a:ext cx="5759496" cy="32355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0000" lnSpcReduction="20000"/>
          </a:bodyPr>
          <a:lstStyle/>
          <a:p>
            <a:pPr>
              <a:defRPr/>
            </a:pPr>
            <a:r>
              <a:rPr lang="ru-RU" b="1" dirty="0">
                <a:solidFill>
                  <a:schemeClr val="bg1"/>
                </a:solidFill>
                <a:latin typeface="Verdana"/>
                <a:ea typeface="Verdana"/>
              </a:rPr>
              <a:t>Выполнил</a:t>
            </a:r>
            <a:r>
              <a:rPr lang="en-US" b="1" dirty="0">
                <a:solidFill>
                  <a:schemeClr val="bg1"/>
                </a:solidFill>
                <a:latin typeface="Verdana"/>
                <a:ea typeface="Verdana"/>
              </a:rPr>
              <a:t>: </a:t>
            </a:r>
            <a:r>
              <a:rPr lang="ru-RU" b="1" dirty="0">
                <a:solidFill>
                  <a:schemeClr val="bg1"/>
                </a:solidFill>
                <a:latin typeface="Verdana"/>
                <a:ea typeface="Verdana"/>
              </a:rPr>
              <a:t>Баранов И.С.</a:t>
            </a:r>
            <a:endParaRPr b="1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F7A3BACB-FE18-471E-A3CF-4E00D905550C}"/>
              </a:ext>
            </a:extLst>
          </p:cNvPr>
          <p:cNvSpPr txBox="1"/>
          <p:nvPr/>
        </p:nvSpPr>
        <p:spPr bwMode="auto">
          <a:xfrm>
            <a:off x="6531106" y="6005191"/>
            <a:ext cx="4670475" cy="32355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b="1" dirty="0">
                <a:solidFill>
                  <a:schemeClr val="bg1"/>
                </a:solidFill>
                <a:latin typeface="Verdana"/>
                <a:ea typeface="Verdana"/>
              </a:rPr>
              <a:t>Руководитель</a:t>
            </a:r>
            <a:r>
              <a:rPr lang="en-US" b="1" dirty="0">
                <a:solidFill>
                  <a:schemeClr val="bg1"/>
                </a:solidFill>
                <a:latin typeface="Verdana"/>
                <a:ea typeface="Verdana"/>
              </a:rPr>
              <a:t>: </a:t>
            </a:r>
            <a:r>
              <a:rPr lang="ru-RU" b="1" dirty="0">
                <a:solidFill>
                  <a:schemeClr val="bg1"/>
                </a:solidFill>
                <a:latin typeface="Verdana"/>
                <a:ea typeface="Verdana"/>
              </a:rPr>
              <a:t>Сергеева М.С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515333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BD1ED90B-C9C1-479B-A13A-8A7DCF38C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4331" y="1873167"/>
            <a:ext cx="5843337" cy="3286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83261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9F4CC347-29A3-4293-864F-E25A6E169458}" vid="{F86C687B-A777-40CC-9C0C-5B47488FAB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7363</TotalTime>
  <Words>529</Words>
  <Application>Microsoft Office PowerPoint</Application>
  <PresentationFormat>Широкоэкранный</PresentationFormat>
  <Paragraphs>94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quote-cjk-patch</vt:lpstr>
      <vt:lpstr>Times New Roman</vt:lpstr>
      <vt:lpstr>Verdana</vt:lpstr>
      <vt:lpstr>Тема1</vt:lpstr>
      <vt:lpstr>Проект по учебной практике Разработка сайта и веб приложения «TasteTheWorld»</vt:lpstr>
      <vt:lpstr>Цель и задачи</vt:lpstr>
      <vt:lpstr>Описание предметной области</vt:lpstr>
      <vt:lpstr>Анализ существующих аналогов</vt:lpstr>
      <vt:lpstr>Инструментальные и системные программные средства</vt:lpstr>
      <vt:lpstr>Проектирование ПО информационной системы</vt:lpstr>
      <vt:lpstr>Функции web и desktop приложения</vt:lpstr>
      <vt:lpstr>Заключение</vt:lpstr>
      <vt:lpstr>Проект по учебной практике Разработка сайта и веб приложения «TasteTheWorld»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Маркетинговые исследования рынка образовательных услуг</dc:title>
  <dc:creator>Сидякина Анастасия Алексеевна</dc:creator>
  <cp:lastModifiedBy>ilya03122007@gmail.com</cp:lastModifiedBy>
  <cp:revision>110</cp:revision>
  <dcterms:created xsi:type="dcterms:W3CDTF">2023-01-30T07:02:12Z</dcterms:created>
  <dcterms:modified xsi:type="dcterms:W3CDTF">2026-04-20T13:15:02Z</dcterms:modified>
</cp:coreProperties>
</file>