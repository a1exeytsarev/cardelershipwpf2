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67" r:id="rId1"/>
  </p:sldMasterIdLst>
  <p:notesMasterIdLst>
    <p:notesMasterId r:id="rId11"/>
  </p:notesMasterIdLst>
  <p:sldIdLst>
    <p:sldId id="256" r:id="rId2"/>
    <p:sldId id="280" r:id="rId3"/>
    <p:sldId id="283" r:id="rId4"/>
    <p:sldId id="284" r:id="rId5"/>
    <p:sldId id="285" r:id="rId6"/>
    <p:sldId id="286" r:id="rId7"/>
    <p:sldId id="287" r:id="rId8"/>
    <p:sldId id="288" r:id="rId9"/>
    <p:sldId id="291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Светлы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FD0F851-EC5A-4D38-B0AD-8093EC10F338}" styleName="Светлый стиль 1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474" autoAdjust="0"/>
    <p:restoredTop sz="94070" autoAdjust="0"/>
  </p:normalViewPr>
  <p:slideViewPr>
    <p:cSldViewPr snapToGrid="0">
      <p:cViewPr>
        <p:scale>
          <a:sx n="66" d="100"/>
          <a:sy n="66" d="100"/>
        </p:scale>
        <p:origin x="48" y="9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6EE6B6-5D61-40ED-9AD8-BBAAB708A29C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A8AE37-CCB3-4251-BDA7-63C2C6DF0E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0036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5CDF79-7F47-40AF-8AE4-BF0917872E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5D9C8E2-D0E0-4691-9C16-850CD6BDB5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0EF513A-04FF-4832-8E0A-BF35FEBF9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2437D-2F9C-4986-AF16-5AA25A0DA32E}" type="datetime1">
              <a:rPr lang="en-US" smtClean="0"/>
              <a:t>4/24/2026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8D3672B-22D5-4EA4-B4FB-9FF8F160D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E59BAE0-ED5F-4BF2-9273-2C342A85C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110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3FCC9B-AF42-40B7-BE90-6AF0F1935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FCE9877-8C0C-4A1C-B242-832AE76DC6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01870BF-92E7-4F23-9797-31701361A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30360-64E0-4AA9-AA97-CF2B929AF3F9}" type="datetime1">
              <a:rPr lang="en-US" smtClean="0"/>
              <a:t>4/24/2026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0FA47B4-5D72-40BD-9FC9-294AD5712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7610B89-FBC2-4CFB-BD5E-6265F52AC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6085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13B997-99D4-4CC4-A040-EEDF01B9A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029DD27-117C-4973-8F91-1395B14468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7D8B88C-D264-44DF-9319-4D6B90E48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B2675-BDED-4BF8-8ABC-89568147756A}" type="datetime1">
              <a:rPr lang="en-US" smtClean="0"/>
              <a:t>4/24/2026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596D805-FA9F-4E82-AE4F-AD71C519D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AB63EA7-CD11-4F57-8826-6425231D5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7945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A08E7F-1388-4AD7-8FE7-AFFB1F8A5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91AECFC-306A-4548-A81B-144AC5D3A5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E594844-1F4F-4B23-8448-5839B9E065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5753B0A-63C8-41B4-A914-923EC8690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69BB1-EFFA-4647-A5D8-1D992BFACC90}" type="datetime1">
              <a:rPr lang="en-US" smtClean="0"/>
              <a:t>4/24/2026</a:t>
            </a:fld>
            <a:endParaRPr lang="en-US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677FA8E-1994-4FCD-B419-EDDF9B593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E65EA3F-35EF-45BC-BD42-54A2EDEEC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32633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E42965-A0B4-4A5C-8588-C5BD6A41D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068769C-40FE-46F9-8A0D-576DDDEE80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1527DC0-D2A0-4867-90E8-8A410E557D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FCB7FDF-5CEF-462E-9784-D3351BD6F4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2ADA772-195F-4CD9-AF30-B97A97AF52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070DFE5-4B2C-4138-91CF-ED2C59E4B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0604C-35A1-427A-97B2-E9D4385DF929}" type="datetime1">
              <a:rPr lang="en-US" smtClean="0"/>
              <a:t>4/24/2026</a:t>
            </a:fld>
            <a:endParaRPr lang="en-US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CB53ECC-4AC2-4B27-9749-053C1446F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EB8563A-11AF-4B88-BA42-C8CE67CB1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3583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184619-141E-439A-A906-5E765728A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B96285C-F925-4E60-B411-77F536F25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29CBC-33EC-4488-969B-E7CF3723E718}" type="datetime1">
              <a:rPr lang="en-US" smtClean="0"/>
              <a:t>4/24/2026</a:t>
            </a:fld>
            <a:endParaRPr lang="en-US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5F3382A-E3B9-4F39-A981-D40D85701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5E45A57-235E-4D0C-9F19-1DC8223FB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5840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3EC3895-6461-49D8-92C3-805432C42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BD798-57BE-41CD-839C-71AEFB35262B}" type="datetime1">
              <a:rPr lang="en-US" smtClean="0"/>
              <a:t>4/24/2026</a:t>
            </a:fld>
            <a:endParaRPr lang="en-US" dirty="0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9247659-A454-449C-845F-917A2C5B5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6A28733-F704-418A-8F11-312531CB4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3440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B943FC-64FA-4F76-A291-F717BCA1A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6FFE4A0-0369-4409-8213-79FF0C735D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DA66F0-7DB7-4372-9F80-B6BACF1BBF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E5F11C0-9319-45BB-BDB6-0660E84A3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F6996-640F-4245-B2F6-987103750F70}" type="datetime1">
              <a:rPr lang="en-US" smtClean="0"/>
              <a:t>4/24/2026</a:t>
            </a:fld>
            <a:endParaRPr lang="en-US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9C4375B-B97A-4388-9FFB-7E54E1D8C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DEFA227-46A0-49E9-9B44-C829DD548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4488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06F6C6-606A-48E7-93BB-3652214BB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65596B1-5C7D-4B23-A266-70DBDAC7FC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EDD1CE3-823A-41D0-8B07-D86F22C575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EF8BD61-C0A6-443E-BA9A-163E17CB3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633FA-B17B-4DDA-B662-57C19F42F44F}" type="datetime1">
              <a:rPr lang="en-US" smtClean="0"/>
              <a:t>4/24/2026</a:t>
            </a:fld>
            <a:endParaRPr lang="en-US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7D7D31E-33BC-45EA-9301-585DC7140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E60B6C2-C750-4FF4-BFB6-64412161D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02179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284DCA-1C8B-40E3-BE70-828B62952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75C3595-C932-4A40-97DE-47E76E4A01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14BFE6B-9542-4190-8AA7-4C730DC1D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26A4A-C1E2-4B3B-AAAF-1EEBAC0AF805}" type="datetime1">
              <a:rPr lang="en-US" smtClean="0"/>
              <a:t>4/24/2026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9D2A41E-A1A3-4C06-86DD-D1B0804A5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3EA9DEA-C934-4923-BFB7-3FB1055A3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6053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661BA69-4655-43B1-80C0-B055FE057C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54B0885-0514-4FE1-A88F-7A145394F3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D9918DF-48DA-4209-870C-43FA4D048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3739E-F33D-4FAD-9204-272ACAB4F7EB}" type="datetime1">
              <a:rPr lang="en-US" smtClean="0"/>
              <a:t>4/24/2026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F1B0161-64A5-4681-BED3-3A5D2C636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1F35047-AB13-4273-8AF6-DDFB049FB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8281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1B369A-0C92-4854-B1BF-8514979BD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7CA0576-5858-4945-AA58-266147257B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49BBC22-0E09-4C3A-AA03-9074D9773B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F50ABD-CBA3-4633-B26F-6F630A27B50B}" type="datetime1">
              <a:rPr lang="en-US" smtClean="0"/>
              <a:t>4/24/2026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502B4D3-5AF9-499D-9C65-FF96C17BB4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81152BB-6AA5-4DCA-B876-72235A50E6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3026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asp.net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auto.ru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22035EA-BBE4-45B8-9B7D-BC6FBD99A14C}"/>
              </a:ext>
            </a:extLst>
          </p:cNvPr>
          <p:cNvSpPr/>
          <p:nvPr/>
        </p:nvSpPr>
        <p:spPr bwMode="auto">
          <a:xfrm>
            <a:off x="1997611" y="0"/>
            <a:ext cx="7665663" cy="17983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1600" dirty="0">
                <a:solidFill>
                  <a:srgbClr val="0070C0"/>
                </a:solidFill>
                <a:latin typeface="Verdana"/>
                <a:ea typeface="Verdana"/>
                <a:cs typeface="Times New Roman"/>
              </a:rPr>
              <a:t>ПРАВИТЕЛЬСТВО САНКТ-ПЕТЕРБУРГА</a:t>
            </a:r>
            <a:endParaRPr dirty="0"/>
          </a:p>
          <a:p>
            <a:pPr algn="ctr">
              <a:defRPr/>
            </a:pPr>
            <a:r>
              <a:rPr lang="ru-RU" sz="1600" dirty="0">
                <a:solidFill>
                  <a:srgbClr val="0070C0"/>
                </a:solidFill>
                <a:latin typeface="Verdana"/>
                <a:ea typeface="Verdana"/>
                <a:cs typeface="Times New Roman"/>
              </a:rPr>
              <a:t>КОМИТЕТ ПО НАУКЕ И ВЫСШЕЙ ШКОЛЕ</a:t>
            </a:r>
            <a:endParaRPr dirty="0"/>
          </a:p>
          <a:p>
            <a:pPr algn="ctr">
              <a:defRPr/>
            </a:pPr>
            <a:r>
              <a:rPr lang="ru-RU" sz="1600" dirty="0">
                <a:solidFill>
                  <a:srgbClr val="0070C0"/>
                </a:solidFill>
                <a:latin typeface="Verdana"/>
                <a:ea typeface="Verdana"/>
                <a:cs typeface="Times New Roman"/>
              </a:rPr>
              <a:t>Санкт-Петербургское государственное бюджетное</a:t>
            </a:r>
            <a:endParaRPr dirty="0"/>
          </a:p>
          <a:p>
            <a:pPr algn="ctr">
              <a:defRPr/>
            </a:pPr>
            <a:r>
              <a:rPr lang="ru-RU" sz="1600" dirty="0">
                <a:solidFill>
                  <a:srgbClr val="0070C0"/>
                </a:solidFill>
                <a:latin typeface="Verdana"/>
                <a:ea typeface="Verdana"/>
                <a:cs typeface="Times New Roman"/>
              </a:rPr>
              <a:t>профессиональное образовательное учреждение</a:t>
            </a:r>
            <a:endParaRPr dirty="0"/>
          </a:p>
          <a:p>
            <a:pPr algn="ctr">
              <a:defRPr/>
            </a:pPr>
            <a:r>
              <a:rPr lang="ru-RU" sz="1600" dirty="0">
                <a:solidFill>
                  <a:srgbClr val="0070C0"/>
                </a:solidFill>
                <a:latin typeface="Verdana"/>
                <a:ea typeface="Verdana"/>
                <a:cs typeface="Times New Roman"/>
              </a:rPr>
              <a:t>«ПЕТРОВСКИЙ КОЛЛЕДЖ»</a:t>
            </a:r>
            <a:endParaRPr dirty="0"/>
          </a:p>
          <a:p>
            <a:pPr algn="ctr">
              <a:defRPr/>
            </a:pPr>
            <a:r>
              <a:rPr lang="ru-RU" sz="1600" dirty="0">
                <a:solidFill>
                  <a:srgbClr val="0070C0"/>
                </a:solidFill>
                <a:latin typeface="Verdana"/>
                <a:ea typeface="Verdana"/>
                <a:cs typeface="Times New Roman"/>
              </a:rPr>
              <a:t>(СПб ГБПОУ «Петровский колледж»)</a:t>
            </a:r>
            <a:endParaRPr dirty="0"/>
          </a:p>
          <a:p>
            <a:pPr algn="ctr">
              <a:defRPr/>
            </a:pPr>
            <a:r>
              <a:rPr lang="ru-RU" sz="1600" dirty="0">
                <a:solidFill>
                  <a:srgbClr val="0070C0"/>
                </a:solidFill>
                <a:latin typeface="Verdana"/>
                <a:ea typeface="Verdana"/>
                <a:cs typeface="Times New Roman"/>
              </a:rPr>
              <a:t>Отделение информационных технологий</a:t>
            </a:r>
            <a:endParaRPr dirty="0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20050A62-F9BB-4AEE-83D3-351A68F10EE0}"/>
              </a:ext>
            </a:extLst>
          </p:cNvPr>
          <p:cNvSpPr>
            <a:spLocks noGrp="1"/>
          </p:cNvSpPr>
          <p:nvPr>
            <p:ph type="ctrTitle"/>
          </p:nvPr>
        </p:nvSpPr>
        <p:spPr bwMode="auto">
          <a:xfrm>
            <a:off x="1969476" y="2523742"/>
            <a:ext cx="9144000" cy="1324547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ru-RU" sz="2800" dirty="0">
                <a:solidFill>
                  <a:schemeClr val="bg1"/>
                </a:solidFill>
                <a:latin typeface="Verdana"/>
                <a:ea typeface="Verdana"/>
                <a:cs typeface="Times New Roman"/>
              </a:rPr>
              <a:t>Проект по учебной практике</a:t>
            </a:r>
            <a:br>
              <a:rPr lang="ru-RU" sz="2800" dirty="0">
                <a:solidFill>
                  <a:schemeClr val="bg1"/>
                </a:solidFill>
                <a:latin typeface="Verdana"/>
                <a:ea typeface="Verdana"/>
                <a:cs typeface="Times New Roman"/>
              </a:rPr>
            </a:br>
            <a:r>
              <a:rPr lang="ru-RU" sz="2800" b="1" dirty="0">
                <a:solidFill>
                  <a:schemeClr val="bg1"/>
                </a:solidFill>
                <a:latin typeface="Verdana"/>
                <a:ea typeface="Verdana"/>
                <a:cs typeface="Times New Roman"/>
              </a:rPr>
              <a:t>Разработка сайта и веб приложения </a:t>
            </a:r>
            <a:r>
              <a:rPr lang="ru-RU" sz="2900" b="1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«</a:t>
            </a:r>
            <a:r>
              <a:rPr lang="en-US" sz="2900" b="0" i="0" dirty="0" err="1" smtClean="0">
                <a:solidFill>
                  <a:srgbClr val="F9FAFB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CarDelership</a:t>
            </a:r>
            <a:r>
              <a:rPr lang="ru-RU" sz="2900" b="1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»</a:t>
            </a:r>
            <a:endParaRPr sz="29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522D25E2-AA89-4521-868E-E19DBAAEE7C6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auto">
          <a:xfrm>
            <a:off x="5442085" y="5462950"/>
            <a:ext cx="5759496" cy="323555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 fontScale="80000" lnSpcReduction="20000"/>
          </a:bodyPr>
          <a:lstStyle/>
          <a:p>
            <a:pPr>
              <a:defRPr/>
            </a:pPr>
            <a:r>
              <a:rPr lang="ru-RU" b="1" dirty="0">
                <a:solidFill>
                  <a:schemeClr val="bg1"/>
                </a:solidFill>
                <a:latin typeface="Verdana"/>
                <a:ea typeface="Verdana"/>
              </a:rPr>
              <a:t>Выполнил</a:t>
            </a:r>
            <a:r>
              <a:rPr lang="en-US" b="1" dirty="0">
                <a:solidFill>
                  <a:schemeClr val="bg1"/>
                </a:solidFill>
                <a:latin typeface="Verdana"/>
                <a:ea typeface="Verdana"/>
              </a:rPr>
              <a:t>: </a:t>
            </a:r>
            <a:r>
              <a:rPr lang="ru-RU" b="1" dirty="0" smtClean="0">
                <a:solidFill>
                  <a:schemeClr val="bg1"/>
                </a:solidFill>
                <a:latin typeface="Verdana"/>
                <a:ea typeface="Verdana"/>
              </a:rPr>
              <a:t>Царев</a:t>
            </a:r>
            <a:r>
              <a:rPr lang="ru-RU" b="1" dirty="0" smtClean="0">
                <a:solidFill>
                  <a:schemeClr val="bg1"/>
                </a:solidFill>
                <a:latin typeface="Verdana"/>
                <a:ea typeface="Verdana"/>
              </a:rPr>
              <a:t> А. Д.</a:t>
            </a:r>
            <a:endParaRPr b="1" dirty="0"/>
          </a:p>
        </p:txBody>
      </p:sp>
      <p:sp>
        <p:nvSpPr>
          <p:cNvPr id="9" name="Подзаголовок 2">
            <a:extLst>
              <a:ext uri="{FF2B5EF4-FFF2-40B4-BE49-F238E27FC236}">
                <a16:creationId xmlns:a16="http://schemas.microsoft.com/office/drawing/2014/main" id="{F7A3BACB-FE18-471E-A3CF-4E00D905550C}"/>
              </a:ext>
            </a:extLst>
          </p:cNvPr>
          <p:cNvSpPr txBox="1"/>
          <p:nvPr/>
        </p:nvSpPr>
        <p:spPr bwMode="auto">
          <a:xfrm>
            <a:off x="6531106" y="6005191"/>
            <a:ext cx="4670475" cy="32355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ctr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 b="1" dirty="0">
                <a:solidFill>
                  <a:schemeClr val="bg1"/>
                </a:solidFill>
                <a:latin typeface="Verdana"/>
                <a:ea typeface="Verdana"/>
              </a:rPr>
              <a:t>Руководитель</a:t>
            </a:r>
            <a:r>
              <a:rPr lang="en-US" b="1" dirty="0">
                <a:solidFill>
                  <a:schemeClr val="bg1"/>
                </a:solidFill>
                <a:latin typeface="Verdana"/>
                <a:ea typeface="Verdana"/>
              </a:rPr>
              <a:t>: </a:t>
            </a:r>
            <a:r>
              <a:rPr lang="ru-RU" b="1" dirty="0">
                <a:solidFill>
                  <a:schemeClr val="bg1"/>
                </a:solidFill>
                <a:latin typeface="Verdana"/>
                <a:ea typeface="Verdana"/>
              </a:rPr>
              <a:t>Сергеева М.С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3526146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3"/>
          <p:cNvSpPr>
            <a:spLocks noGrp="1"/>
          </p:cNvSpPr>
          <p:nvPr>
            <p:ph idx="1"/>
          </p:nvPr>
        </p:nvSpPr>
        <p:spPr>
          <a:xfrm>
            <a:off x="1114298" y="1612202"/>
            <a:ext cx="3032920" cy="3974210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ru-RU" sz="4400" b="1" dirty="0">
                <a:latin typeface="quote-cjk-patch"/>
              </a:rPr>
              <a:t>Цель учебной практики</a:t>
            </a:r>
          </a:p>
          <a:p>
            <a:pPr marL="0" indent="0">
              <a:buNone/>
            </a:pPr>
            <a:r>
              <a:rPr lang="ru-RU" sz="4400" dirty="0">
                <a:latin typeface="quote-cjk-patch"/>
              </a:rPr>
              <a:t>Разработать комплексную систему «</a:t>
            </a:r>
            <a:r>
              <a:rPr lang="ru-RU" sz="4400" dirty="0" err="1">
                <a:latin typeface="quote-cjk-patch"/>
              </a:rPr>
              <a:t>CarDelership</a:t>
            </a:r>
            <a:r>
              <a:rPr lang="ru-RU" sz="4400" dirty="0">
                <a:latin typeface="quote-cjk-patch"/>
              </a:rPr>
              <a:t>» — интернет-магазин по продаже автомобилей, включающую:</a:t>
            </a:r>
          </a:p>
          <a:p>
            <a:pPr marL="0" indent="0">
              <a:buNone/>
            </a:pPr>
            <a:r>
              <a:rPr lang="ru-RU" sz="4400" dirty="0">
                <a:latin typeface="quote-cjk-patch"/>
              </a:rPr>
              <a:t>Клиентское </a:t>
            </a:r>
            <a:r>
              <a:rPr lang="ru-RU" sz="4400" dirty="0">
                <a:latin typeface="quote-cjk-patch"/>
              </a:rPr>
              <a:t>веб-приложение (</a:t>
            </a:r>
            <a:r>
              <a:rPr lang="ru-RU" sz="4400" dirty="0">
                <a:latin typeface="quote-cjk-patch"/>
                <a:hlinkClick r:id="rId2"/>
              </a:rPr>
              <a:t>ASP.NET</a:t>
            </a:r>
            <a:r>
              <a:rPr lang="ru-RU" sz="4400" dirty="0">
                <a:latin typeface="quote-cjk-patch"/>
              </a:rPr>
              <a:t> </a:t>
            </a:r>
            <a:r>
              <a:rPr lang="ru-RU" sz="4400" dirty="0" err="1">
                <a:latin typeface="quote-cjk-patch"/>
              </a:rPr>
              <a:t>Core</a:t>
            </a:r>
            <a:r>
              <a:rPr lang="ru-RU" sz="4400" dirty="0">
                <a:latin typeface="quote-cjk-patch"/>
              </a:rPr>
              <a:t> MVC) — для покупателей</a:t>
            </a:r>
          </a:p>
          <a:p>
            <a:pPr marL="0" indent="0">
              <a:buNone/>
            </a:pPr>
            <a:r>
              <a:rPr lang="ru-RU" sz="4400" dirty="0">
                <a:latin typeface="quote-cjk-patch"/>
              </a:rPr>
              <a:t>Десктоп-приложение (WPF) — для сотрудников (менеджеров и администраторов)</a:t>
            </a:r>
          </a:p>
          <a:p>
            <a:endParaRPr lang="ru-RU" dirty="0"/>
          </a:p>
        </p:txBody>
      </p:sp>
      <p:sp>
        <p:nvSpPr>
          <p:cNvPr id="5" name="Заголовок 2">
            <a:extLst>
              <a:ext uri="{FF2B5EF4-FFF2-40B4-BE49-F238E27FC236}">
                <a16:creationId xmlns:a16="http://schemas.microsoft.com/office/drawing/2014/main" id="{32CA6E22-4CF3-4E09-8A2B-57532BBD3C93}"/>
              </a:ext>
            </a:extLst>
          </p:cNvPr>
          <p:cNvSpPr txBox="1">
            <a:spLocks/>
          </p:cNvSpPr>
          <p:nvPr/>
        </p:nvSpPr>
        <p:spPr bwMode="auto">
          <a:xfrm>
            <a:off x="-481263" y="-108284"/>
            <a:ext cx="7140918" cy="10096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ru-RU" sz="2400" b="1" smtClean="0">
                <a:solidFill>
                  <a:schemeClr val="bg1"/>
                </a:solidFill>
                <a:latin typeface="Verdana"/>
                <a:ea typeface="Verdana"/>
                <a:cs typeface="Times New Roman"/>
              </a:rPr>
              <a:t>Цель и задачи</a:t>
            </a:r>
            <a:endParaRPr lang="ru-RU" sz="2400" b="1" dirty="0">
              <a:solidFill>
                <a:schemeClr val="bg1"/>
              </a:solidFill>
            </a:endParaRPr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4100873"/>
              </p:ext>
            </p:extLst>
          </p:nvPr>
        </p:nvGraphicFramePr>
        <p:xfrm>
          <a:off x="5646056" y="1353947"/>
          <a:ext cx="6125030" cy="449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1435">
                  <a:extLst>
                    <a:ext uri="{9D8B030D-6E8A-4147-A177-3AD203B41FA5}">
                      <a16:colId xmlns:a16="http://schemas.microsoft.com/office/drawing/2014/main" val="3579246071"/>
                    </a:ext>
                  </a:extLst>
                </a:gridCol>
                <a:gridCol w="5053595">
                  <a:extLst>
                    <a:ext uri="{9D8B030D-6E8A-4147-A177-3AD203B41FA5}">
                      <a16:colId xmlns:a16="http://schemas.microsoft.com/office/drawing/2014/main" val="27599569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№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Задача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9242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Проанализировать рынок существующих интернет-магазинов по продаже автомобилей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33581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Спроектировать базу данных для хранения информации об автомобилях, заказах, поставках и пользователях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05640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Разработать веб-приложение для клиентов (каталог автомобилей, корзина, заказы, отзывы)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0222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4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Разработать WPF-приложение для сотрудников (управление автомобилями, заказами, поставками, справочниками)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96121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Создать интерфейсы и написать код программных модулей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11003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6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Протестировать готовое комплексное решение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2717014"/>
                  </a:ext>
                </a:extLst>
              </a:tr>
            </a:tbl>
          </a:graphicData>
        </a:graphic>
      </p:graphicFrame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8708571" y="6492875"/>
            <a:ext cx="2743200" cy="365125"/>
          </a:xfrm>
        </p:spPr>
        <p:txBody>
          <a:bodyPr/>
          <a:lstStyle/>
          <a:p>
            <a:fld id="{D57F1E4F-1CFF-5643-939E-217C01CDF565}" type="slidenum">
              <a:rPr lang="en-US" sz="1600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83413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3"/>
          <p:cNvSpPr>
            <a:spLocks noGrp="1"/>
          </p:cNvSpPr>
          <p:nvPr>
            <p:ph idx="1"/>
          </p:nvPr>
        </p:nvSpPr>
        <p:spPr>
          <a:xfrm>
            <a:off x="1114297" y="1612202"/>
            <a:ext cx="3631873" cy="3974210"/>
          </a:xfrm>
        </p:spPr>
        <p:txBody>
          <a:bodyPr>
            <a:normAutofit fontScale="62500" lnSpcReduction="20000"/>
          </a:bodyPr>
          <a:lstStyle/>
          <a:p>
            <a:r>
              <a:rPr lang="ru-RU" b="1" dirty="0"/>
              <a:t>Название системы: </a:t>
            </a:r>
            <a:r>
              <a:rPr lang="ru-RU" b="1" dirty="0" err="1"/>
              <a:t>CarDelership</a:t>
            </a:r>
            <a:endParaRPr lang="ru-RU" b="1" dirty="0"/>
          </a:p>
          <a:p>
            <a:r>
              <a:rPr lang="ru-RU" b="1" dirty="0"/>
              <a:t>Основная деятельность:</a:t>
            </a:r>
            <a:r>
              <a:rPr lang="ru-RU" dirty="0"/>
              <a:t/>
            </a:r>
            <a:br>
              <a:rPr lang="ru-RU" dirty="0"/>
            </a:br>
            <a:r>
              <a:rPr lang="ru-RU" dirty="0"/>
              <a:t>Продажа автомобилей различных марок и моделей через веб-сайт, с управлением товарами, заказами, поставками, справочниками и складскими остатками через десктоп-приложение.</a:t>
            </a:r>
          </a:p>
          <a:p>
            <a:r>
              <a:rPr lang="ru-RU" b="1" dirty="0"/>
              <a:t>Цель создания системы:</a:t>
            </a:r>
            <a:r>
              <a:rPr lang="ru-RU" dirty="0"/>
              <a:t/>
            </a:r>
            <a:br>
              <a:rPr lang="ru-RU" dirty="0"/>
            </a:br>
            <a:r>
              <a:rPr lang="ru-RU" dirty="0"/>
              <a:t>Автоматизация процессов </a:t>
            </a:r>
            <a:r>
              <a:rPr lang="ru-RU" dirty="0" err="1"/>
              <a:t>интернет-торговли</a:t>
            </a:r>
            <a:r>
              <a:rPr lang="ru-RU" dirty="0"/>
              <a:t> автомобилями, обеспечение удобного интерфейса для покупателей и эффективного управления для сотрудников автосалона.</a:t>
            </a:r>
          </a:p>
        </p:txBody>
      </p:sp>
      <p:sp>
        <p:nvSpPr>
          <p:cNvPr id="6" name="Заголовок 2">
            <a:extLst>
              <a:ext uri="{FF2B5EF4-FFF2-40B4-BE49-F238E27FC236}">
                <a16:creationId xmlns:a16="http://schemas.microsoft.com/office/drawing/2014/main" id="{32CA6E22-4CF3-4E09-8A2B-57532BBD3C9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-481263" y="-108284"/>
            <a:ext cx="7140918" cy="1009644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ru-RU" sz="2000" b="1" dirty="0">
                <a:solidFill>
                  <a:schemeClr val="bg1"/>
                </a:solidFill>
                <a:latin typeface="Verdana"/>
                <a:ea typeface="Verdana"/>
                <a:cs typeface="Times New Roman"/>
              </a:rPr>
              <a:t>Описание предметной области</a:t>
            </a:r>
            <a:endParaRPr sz="2000" b="1" dirty="0">
              <a:solidFill>
                <a:schemeClr val="bg1"/>
              </a:solidFill>
            </a:endParaRPr>
          </a:p>
        </p:txBody>
      </p:sp>
      <p:pic>
        <p:nvPicPr>
          <p:cNvPr id="7" name="Рисунок 6"/>
          <p:cNvPicPr/>
          <p:nvPr/>
        </p:nvPicPr>
        <p:blipFill>
          <a:blip r:embed="rId2"/>
          <a:stretch>
            <a:fillRect/>
          </a:stretch>
        </p:blipFill>
        <p:spPr>
          <a:xfrm>
            <a:off x="6659655" y="1612202"/>
            <a:ext cx="3115310" cy="3536950"/>
          </a:xfrm>
          <a:prstGeom prst="rect">
            <a:avLst/>
          </a:prstGeom>
        </p:spPr>
      </p:pic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8596085" y="6492875"/>
            <a:ext cx="2743200" cy="365125"/>
          </a:xfrm>
        </p:spPr>
        <p:txBody>
          <a:bodyPr/>
          <a:lstStyle/>
          <a:p>
            <a:fld id="{D57F1E4F-1CFF-5643-939E-217C01CDF565}" type="slidenum">
              <a:rPr lang="en-US" sz="1600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9575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2">
            <a:extLst>
              <a:ext uri="{FF2B5EF4-FFF2-40B4-BE49-F238E27FC236}">
                <a16:creationId xmlns:a16="http://schemas.microsoft.com/office/drawing/2014/main" id="{32CA6E22-4CF3-4E09-8A2B-57532BBD3C93}"/>
              </a:ext>
            </a:extLst>
          </p:cNvPr>
          <p:cNvSpPr txBox="1">
            <a:spLocks/>
          </p:cNvSpPr>
          <p:nvPr/>
        </p:nvSpPr>
        <p:spPr bwMode="auto">
          <a:xfrm>
            <a:off x="664785" y="-97536"/>
            <a:ext cx="5272719" cy="10096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000" b="1" smtClean="0">
                <a:solidFill>
                  <a:srgbClr val="F9FAFB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Анализ существующих аналогов</a:t>
            </a:r>
            <a:endParaRPr lang="ru-RU" sz="2000" b="1" dirty="0">
              <a:solidFill>
                <a:srgbClr val="F9FAFB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aphicFrame>
        <p:nvGraphicFramePr>
          <p:cNvPr id="9" name="Таблица 2">
            <a:extLst>
              <a:ext uri="{FF2B5EF4-FFF2-40B4-BE49-F238E27FC236}">
                <a16:creationId xmlns:a16="http://schemas.microsoft.com/office/drawing/2014/main" id="{B037EF49-345C-4153-84D6-B7767526BA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3832990"/>
              </p:ext>
            </p:extLst>
          </p:nvPr>
        </p:nvGraphicFramePr>
        <p:xfrm>
          <a:off x="1336476" y="912108"/>
          <a:ext cx="9650838" cy="54112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16946">
                  <a:extLst>
                    <a:ext uri="{9D8B030D-6E8A-4147-A177-3AD203B41FA5}">
                      <a16:colId xmlns:a16="http://schemas.microsoft.com/office/drawing/2014/main" val="3827146321"/>
                    </a:ext>
                  </a:extLst>
                </a:gridCol>
                <a:gridCol w="3216946">
                  <a:extLst>
                    <a:ext uri="{9D8B030D-6E8A-4147-A177-3AD203B41FA5}">
                      <a16:colId xmlns:a16="http://schemas.microsoft.com/office/drawing/2014/main" val="2118214100"/>
                    </a:ext>
                  </a:extLst>
                </a:gridCol>
                <a:gridCol w="3216946">
                  <a:extLst>
                    <a:ext uri="{9D8B030D-6E8A-4147-A177-3AD203B41FA5}">
                      <a16:colId xmlns:a16="http://schemas.microsoft.com/office/drawing/2014/main" val="416470806"/>
                    </a:ext>
                  </a:extLst>
                </a:gridCol>
              </a:tblGrid>
              <a:tr h="417310">
                <a:tc>
                  <a:txBody>
                    <a:bodyPr/>
                    <a:lstStyle/>
                    <a:p>
                      <a:pPr algn="l"/>
                      <a:r>
                        <a:rPr lang="ru-RU" b="0">
                          <a:effectLst/>
                          <a:latin typeface="quote-cjk-patch"/>
                        </a:rPr>
                        <a:t>Название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0">
                          <a:effectLst/>
                          <a:latin typeface="quote-cjk-patch"/>
                        </a:rPr>
                        <a:t>Плюсы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0">
                          <a:effectLst/>
                          <a:latin typeface="quote-cjk-patch"/>
                        </a:rPr>
                        <a:t>Минусы</a:t>
                      </a: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2030906741"/>
                  </a:ext>
                </a:extLst>
              </a:tr>
              <a:tr h="1402435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0" kern="1200" dirty="0" smtClean="0">
                          <a:solidFill>
                            <a:schemeClr val="dk1"/>
                          </a:solidFill>
                          <a:effectLst/>
                          <a:latin typeface="quote-cjk-patch"/>
                          <a:ea typeface="+mn-ea"/>
                          <a:cs typeface="+mn-cs"/>
                          <a:hlinkClick r:id="rId2"/>
                        </a:rPr>
                        <a:t>Auto.ru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/>
                        <a:latin typeface="quote-cjk-patch"/>
                        <a:ea typeface="+mn-ea"/>
                        <a:cs typeface="+mn-cs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800" b="0" kern="1200" dirty="0" smtClean="0">
                          <a:solidFill>
                            <a:schemeClr val="dk1"/>
                          </a:solidFill>
                          <a:effectLst/>
                          <a:latin typeface="quote-cjk-patch"/>
                          <a:ea typeface="+mn-ea"/>
                          <a:cs typeface="+mn-cs"/>
                        </a:rPr>
                        <a:t>Крупнейшая база объявлений, фильтрация по множеству параметров</a:t>
                      </a:r>
                      <a:endParaRPr lang="ru-RU" sz="1800" b="0" kern="1200" dirty="0">
                        <a:solidFill>
                          <a:schemeClr val="dk1"/>
                        </a:solidFill>
                        <a:effectLst/>
                        <a:latin typeface="quote-cjk-patch"/>
                        <a:ea typeface="+mn-ea"/>
                        <a:cs typeface="+mn-cs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800" b="0" kern="1200" dirty="0" smtClean="0">
                          <a:solidFill>
                            <a:schemeClr val="dk1"/>
                          </a:solidFill>
                          <a:effectLst/>
                          <a:latin typeface="quote-cjk-patch"/>
                          <a:ea typeface="+mn-ea"/>
                          <a:cs typeface="+mn-cs"/>
                        </a:rPr>
                        <a:t>Нет функции онлайн-бронирования и отслеживания поставок</a:t>
                      </a:r>
                      <a:endParaRPr lang="ru-RU" sz="1800" b="0" kern="1200" dirty="0">
                        <a:solidFill>
                          <a:schemeClr val="dk1"/>
                        </a:solidFill>
                        <a:effectLst/>
                        <a:latin typeface="quote-cjk-patch"/>
                        <a:ea typeface="+mn-ea"/>
                        <a:cs typeface="+mn-cs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4266800511"/>
                  </a:ext>
                </a:extLst>
              </a:tr>
              <a:tr h="909873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800" b="0" kern="1200" dirty="0" err="1" smtClean="0">
                          <a:solidFill>
                            <a:schemeClr val="dk1"/>
                          </a:solidFill>
                          <a:effectLst/>
                          <a:latin typeface="quote-cjk-patch"/>
                          <a:ea typeface="+mn-ea"/>
                          <a:cs typeface="+mn-cs"/>
                        </a:rPr>
                        <a:t>Дром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/>
                        <a:latin typeface="quote-cjk-patch"/>
                        <a:ea typeface="+mn-ea"/>
                        <a:cs typeface="+mn-cs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800" b="0" kern="1200" dirty="0" smtClean="0">
                          <a:solidFill>
                            <a:schemeClr val="dk1"/>
                          </a:solidFill>
                          <a:effectLst/>
                          <a:latin typeface="quote-cjk-patch"/>
                          <a:ea typeface="+mn-ea"/>
                          <a:cs typeface="+mn-cs"/>
                        </a:rPr>
                        <a:t>Удобный поиск, отзывы о дилерах, история цен</a:t>
                      </a:r>
                      <a:endParaRPr lang="ru-RU" sz="1800" b="0" kern="1200" dirty="0">
                        <a:solidFill>
                          <a:schemeClr val="dk1"/>
                        </a:solidFill>
                        <a:effectLst/>
                        <a:latin typeface="quote-cjk-patch"/>
                        <a:ea typeface="+mn-ea"/>
                        <a:cs typeface="+mn-cs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800" b="0" kern="1200" dirty="0" smtClean="0">
                          <a:solidFill>
                            <a:schemeClr val="dk1"/>
                          </a:solidFill>
                          <a:effectLst/>
                          <a:latin typeface="quote-cjk-patch"/>
                          <a:ea typeface="+mn-ea"/>
                          <a:cs typeface="+mn-cs"/>
                        </a:rPr>
                        <a:t>Только доска объявлений, нет интернет-магазина</a:t>
                      </a:r>
                      <a:endParaRPr lang="ru-RU" sz="1800" b="0" kern="1200" dirty="0">
                        <a:solidFill>
                          <a:schemeClr val="dk1"/>
                        </a:solidFill>
                        <a:effectLst/>
                        <a:latin typeface="quote-cjk-patch"/>
                        <a:ea typeface="+mn-ea"/>
                        <a:cs typeface="+mn-cs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742092754"/>
                  </a:ext>
                </a:extLst>
              </a:tr>
              <a:tr h="663591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800" b="0" kern="1200" dirty="0" err="1" smtClean="0">
                          <a:solidFill>
                            <a:schemeClr val="dk1"/>
                          </a:solidFill>
                          <a:effectLst/>
                          <a:latin typeface="quote-cjk-patch"/>
                          <a:ea typeface="+mn-ea"/>
                          <a:cs typeface="+mn-cs"/>
                        </a:rPr>
                        <a:t>Авито</a:t>
                      </a:r>
                      <a:r>
                        <a:rPr lang="ru-RU" sz="1800" b="0" kern="1200" dirty="0" smtClean="0">
                          <a:solidFill>
                            <a:schemeClr val="dk1"/>
                          </a:solidFill>
                          <a:effectLst/>
                          <a:latin typeface="quote-cjk-patch"/>
                          <a:ea typeface="+mn-ea"/>
                          <a:cs typeface="+mn-cs"/>
                        </a:rPr>
                        <a:t> Авто</a:t>
                      </a:r>
                      <a:endParaRPr lang="ru-RU" sz="1800" b="0" kern="1200" dirty="0">
                        <a:solidFill>
                          <a:schemeClr val="dk1"/>
                        </a:solidFill>
                        <a:effectLst/>
                        <a:latin typeface="quote-cjk-patch"/>
                        <a:ea typeface="+mn-ea"/>
                        <a:cs typeface="+mn-cs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800" b="0" kern="1200" dirty="0" smtClean="0">
                          <a:solidFill>
                            <a:schemeClr val="dk1"/>
                          </a:solidFill>
                          <a:effectLst/>
                          <a:latin typeface="quote-cjk-patch"/>
                          <a:ea typeface="+mn-ea"/>
                          <a:cs typeface="+mn-cs"/>
                        </a:rPr>
                        <a:t>Большой трафик, простота размещения</a:t>
                      </a:r>
                      <a:endParaRPr lang="ru-RU" sz="1800" b="0" kern="1200" dirty="0">
                        <a:solidFill>
                          <a:schemeClr val="dk1"/>
                        </a:solidFill>
                        <a:effectLst/>
                        <a:latin typeface="quote-cjk-patch"/>
                        <a:ea typeface="+mn-ea"/>
                        <a:cs typeface="+mn-cs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800" b="0" kern="1200" dirty="0" smtClean="0">
                          <a:solidFill>
                            <a:schemeClr val="dk1"/>
                          </a:solidFill>
                          <a:effectLst/>
                          <a:latin typeface="quote-cjk-patch"/>
                          <a:ea typeface="+mn-ea"/>
                          <a:cs typeface="+mn-cs"/>
                        </a:rPr>
                        <a:t>Нет управления складом и поставками</a:t>
                      </a:r>
                      <a:endParaRPr lang="ru-RU" sz="1800" b="0" kern="1200" dirty="0">
                        <a:solidFill>
                          <a:schemeClr val="dk1"/>
                        </a:solidFill>
                        <a:effectLst/>
                        <a:latin typeface="quote-cjk-patch"/>
                        <a:ea typeface="+mn-ea"/>
                        <a:cs typeface="+mn-cs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4035996566"/>
                  </a:ext>
                </a:extLst>
              </a:tr>
              <a:tr h="1894998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0" kern="1200" dirty="0" err="1" smtClean="0">
                          <a:solidFill>
                            <a:schemeClr val="dk1"/>
                          </a:solidFill>
                          <a:effectLst/>
                          <a:latin typeface="quote-cjk-patch"/>
                          <a:ea typeface="+mn-ea"/>
                          <a:cs typeface="+mn-cs"/>
                        </a:rPr>
                        <a:t>CarDelership</a:t>
                      </a:r>
                      <a:r>
                        <a:rPr lang="en-US" sz="1800" b="0" kern="1200" dirty="0" smtClean="0">
                          <a:solidFill>
                            <a:schemeClr val="dk1"/>
                          </a:solidFill>
                          <a:effectLst/>
                          <a:latin typeface="quote-cjk-patch"/>
                          <a:ea typeface="+mn-ea"/>
                          <a:cs typeface="+mn-cs"/>
                        </a:rPr>
                        <a:t> (</a:t>
                      </a:r>
                      <a:r>
                        <a:rPr lang="ru-RU" sz="1800" b="0" kern="1200" dirty="0" smtClean="0">
                          <a:solidFill>
                            <a:schemeClr val="dk1"/>
                          </a:solidFill>
                          <a:effectLst/>
                          <a:latin typeface="quote-cjk-patch"/>
                          <a:ea typeface="+mn-ea"/>
                          <a:cs typeface="+mn-cs"/>
                        </a:rPr>
                        <a:t>разрабатываемый)</a:t>
                      </a:r>
                      <a:endParaRPr lang="ru-RU" sz="1800" b="0" kern="1200" dirty="0">
                        <a:solidFill>
                          <a:schemeClr val="dk1"/>
                        </a:solidFill>
                        <a:effectLst/>
                        <a:latin typeface="quote-cjk-patch"/>
                        <a:ea typeface="+mn-ea"/>
                        <a:cs typeface="+mn-cs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800" b="0" kern="1200" dirty="0" smtClean="0">
                          <a:solidFill>
                            <a:schemeClr val="dk1"/>
                          </a:solidFill>
                          <a:effectLst/>
                          <a:latin typeface="quote-cjk-patch"/>
                          <a:ea typeface="+mn-ea"/>
                          <a:cs typeface="+mn-cs"/>
                        </a:rPr>
                        <a:t>Специализация на продаже автомобилей, управление поставками и складом, удобная админ-панель WPF</a:t>
                      </a:r>
                      <a:endParaRPr lang="ru-RU" sz="1800" b="0" kern="1200" dirty="0">
                        <a:solidFill>
                          <a:schemeClr val="dk1"/>
                        </a:solidFill>
                        <a:effectLst/>
                        <a:latin typeface="quote-cjk-patch"/>
                        <a:ea typeface="+mn-ea"/>
                        <a:cs typeface="+mn-cs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800" b="0" kern="1200" dirty="0">
                          <a:solidFill>
                            <a:schemeClr val="dk1"/>
                          </a:solidFill>
                          <a:effectLst/>
                          <a:latin typeface="quote-cjk-patch"/>
                          <a:ea typeface="+mn-ea"/>
                          <a:cs typeface="+mn-cs"/>
                        </a:rPr>
                        <a:t>Нет мобильного приложения (в плане)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549547866"/>
                  </a:ext>
                </a:extLst>
              </a:tr>
            </a:tbl>
          </a:graphicData>
        </a:graphic>
      </p:graphicFrame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D57F1E4F-1CFF-5643-939E-217C01CDF565}" type="slidenum">
              <a:rPr lang="en-US" sz="1600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09811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2">
            <a:extLst>
              <a:ext uri="{FF2B5EF4-FFF2-40B4-BE49-F238E27FC236}">
                <a16:creationId xmlns:a16="http://schemas.microsoft.com/office/drawing/2014/main" id="{87B95EB0-D936-4F5E-9B13-906048A435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90510" y="-264607"/>
            <a:ext cx="6544749" cy="1325561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ru-RU" sz="2000" b="1" dirty="0">
                <a:solidFill>
                  <a:schemeClr val="bg1"/>
                </a:solidFill>
                <a:latin typeface="Verdana"/>
                <a:ea typeface="Verdana"/>
                <a:cs typeface="Times New Roman"/>
              </a:rPr>
              <a:t>Инструментальные и системные программные средства</a:t>
            </a:r>
            <a:endParaRPr sz="5400" b="1" dirty="0">
              <a:solidFill>
                <a:schemeClr val="bg1"/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E29852B-3D3C-4853-846D-BE5633367E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825" y="2010156"/>
            <a:ext cx="3383280" cy="3383280"/>
          </a:xfrm>
          <a:prstGeom prst="rect">
            <a:avLst/>
          </a:prstGeom>
        </p:spPr>
      </p:pic>
      <p:pic>
        <p:nvPicPr>
          <p:cNvPr id="7" name="Picture 8" descr="Picture background">
            <a:extLst>
              <a:ext uri="{FF2B5EF4-FFF2-40B4-BE49-F238E27FC236}">
                <a16:creationId xmlns:a16="http://schemas.microsoft.com/office/drawing/2014/main" id="{AEEB2B62-F05B-48A6-B151-90A0AED4D2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3690" y="2694432"/>
            <a:ext cx="3447049" cy="1937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6265" y="2340788"/>
            <a:ext cx="2110264" cy="2722016"/>
          </a:xfrm>
          <a:prstGeom prst="rect">
            <a:avLst/>
          </a:prstGeom>
        </p:spPr>
      </p:pic>
      <p:sp>
        <p:nvSpPr>
          <p:cNvPr id="10" name="Номер слайда 9"/>
          <p:cNvSpPr>
            <a:spLocks noGrp="1"/>
          </p:cNvSpPr>
          <p:nvPr>
            <p:ph type="sldNum" sz="quarter" idx="12"/>
          </p:nvPr>
        </p:nvSpPr>
        <p:spPr>
          <a:xfrm>
            <a:off x="8668657" y="6492875"/>
            <a:ext cx="2743200" cy="365125"/>
          </a:xfrm>
        </p:spPr>
        <p:txBody>
          <a:bodyPr/>
          <a:lstStyle/>
          <a:p>
            <a:fld id="{D57F1E4F-1CFF-5643-939E-217C01CDF565}" type="slidenum">
              <a:rPr lang="en-US" sz="1600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08995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2"/>
          <p:cNvSpPr txBox="1">
            <a:spLocks/>
          </p:cNvSpPr>
          <p:nvPr/>
        </p:nvSpPr>
        <p:spPr bwMode="auto">
          <a:xfrm>
            <a:off x="754967" y="147521"/>
            <a:ext cx="4731433" cy="5866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ru-RU" sz="1800" b="1" smtClean="0">
                <a:solidFill>
                  <a:schemeClr val="bg1"/>
                </a:solidFill>
                <a:latin typeface="Verdana"/>
                <a:ea typeface="Verdana"/>
                <a:cs typeface="Times New Roman"/>
              </a:rPr>
              <a:t>Проектирование ПО информационной системы</a:t>
            </a:r>
            <a:endParaRPr lang="ru-RU" sz="4800" b="1" dirty="0">
              <a:solidFill>
                <a:schemeClr val="bg1"/>
              </a:solidFill>
            </a:endParaRPr>
          </a:p>
        </p:txBody>
      </p:sp>
      <p:pic>
        <p:nvPicPr>
          <p:cNvPr id="9" name="Рисунок 8"/>
          <p:cNvPicPr/>
          <p:nvPr/>
        </p:nvPicPr>
        <p:blipFill>
          <a:blip r:embed="rId2"/>
          <a:stretch>
            <a:fillRect/>
          </a:stretch>
        </p:blipFill>
        <p:spPr>
          <a:xfrm>
            <a:off x="1451428" y="1365204"/>
            <a:ext cx="8946062" cy="4251824"/>
          </a:xfrm>
          <a:prstGeom prst="rect">
            <a:avLst/>
          </a:prstGeom>
        </p:spPr>
      </p:pic>
      <p:sp>
        <p:nvSpPr>
          <p:cNvPr id="10" name="Номер слайда 9"/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D57F1E4F-1CFF-5643-939E-217C01CDF565}" type="slidenum">
              <a:rPr lang="en-US" sz="1600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88957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2">
            <a:extLst>
              <a:ext uri="{FF2B5EF4-FFF2-40B4-BE49-F238E27FC236}">
                <a16:creationId xmlns:a16="http://schemas.microsoft.com/office/drawing/2014/main" id="{BE199A29-7BC5-4C43-A317-56B946C3F075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-526936" y="0"/>
            <a:ext cx="7441809" cy="853049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ru-RU" sz="1800" b="1" dirty="0">
                <a:solidFill>
                  <a:schemeClr val="bg1"/>
                </a:solidFill>
                <a:latin typeface="Verdana"/>
                <a:ea typeface="Verdana"/>
                <a:cs typeface="Times New Roman"/>
              </a:rPr>
              <a:t>Функции </a:t>
            </a:r>
            <a:r>
              <a:rPr lang="en-US" sz="1800" b="1" dirty="0">
                <a:solidFill>
                  <a:schemeClr val="bg1"/>
                </a:solidFill>
                <a:latin typeface="Verdana"/>
                <a:ea typeface="Verdana"/>
                <a:cs typeface="Times New Roman"/>
              </a:rPr>
              <a:t>web </a:t>
            </a:r>
            <a:r>
              <a:rPr lang="ru-RU" sz="1800" b="1" dirty="0">
                <a:solidFill>
                  <a:schemeClr val="bg1"/>
                </a:solidFill>
                <a:latin typeface="Verdana"/>
                <a:ea typeface="Verdana"/>
                <a:cs typeface="Times New Roman"/>
              </a:rPr>
              <a:t>и </a:t>
            </a:r>
            <a:r>
              <a:rPr lang="en-US" sz="1800" b="1" dirty="0">
                <a:solidFill>
                  <a:schemeClr val="bg1"/>
                </a:solidFill>
                <a:latin typeface="Verdana"/>
                <a:ea typeface="Verdana"/>
                <a:cs typeface="Times New Roman"/>
              </a:rPr>
              <a:t>desktop </a:t>
            </a:r>
            <a:r>
              <a:rPr lang="ru-RU" sz="1800" b="1" dirty="0">
                <a:solidFill>
                  <a:schemeClr val="bg1"/>
                </a:solidFill>
                <a:latin typeface="Verdana"/>
                <a:ea typeface="Verdana"/>
                <a:cs typeface="Times New Roman"/>
              </a:rPr>
              <a:t>приложения</a:t>
            </a:r>
            <a:endParaRPr sz="4800" b="1" dirty="0">
              <a:solidFill>
                <a:schemeClr val="bg1"/>
              </a:solidFill>
            </a:endParaRPr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4340294"/>
              </p:ext>
            </p:extLst>
          </p:nvPr>
        </p:nvGraphicFramePr>
        <p:xfrm>
          <a:off x="580570" y="1546980"/>
          <a:ext cx="4550229" cy="44932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53">
                  <a:extLst>
                    <a:ext uri="{9D8B030D-6E8A-4147-A177-3AD203B41FA5}">
                      <a16:colId xmlns:a16="http://schemas.microsoft.com/office/drawing/2014/main" val="2793986795"/>
                    </a:ext>
                  </a:extLst>
                </a:gridCol>
                <a:gridCol w="3407176">
                  <a:extLst>
                    <a:ext uri="{9D8B030D-6E8A-4147-A177-3AD203B41FA5}">
                      <a16:colId xmlns:a16="http://schemas.microsoft.com/office/drawing/2014/main" val="568816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№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Функция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05227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800" b="0" kern="1200" dirty="0" smtClean="0">
                          <a:solidFill>
                            <a:schemeClr val="dk1"/>
                          </a:solidFill>
                          <a:effectLst/>
                          <a:latin typeface="quote-cjk-patch"/>
                          <a:ea typeface="+mn-ea"/>
                          <a:cs typeface="+mn-cs"/>
                        </a:rPr>
                        <a:t>1</a:t>
                      </a:r>
                      <a:endParaRPr lang="ru-RU" sz="1800" b="0" kern="1200" dirty="0">
                        <a:solidFill>
                          <a:schemeClr val="dk1"/>
                        </a:solidFill>
                        <a:effectLst/>
                        <a:latin typeface="quote-cjk-patch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800" b="0" kern="1200" dirty="0" smtClean="0">
                          <a:solidFill>
                            <a:schemeClr val="dk1"/>
                          </a:solidFill>
                          <a:effectLst/>
                          <a:latin typeface="quote-cjk-patch"/>
                          <a:ea typeface="+mn-ea"/>
                          <a:cs typeface="+mn-cs"/>
                        </a:rPr>
                        <a:t>Просмотр </a:t>
                      </a:r>
                      <a:r>
                        <a:rPr lang="ru-RU" sz="1800" b="0" kern="1200" dirty="0">
                          <a:solidFill>
                            <a:schemeClr val="dk1"/>
                          </a:solidFill>
                          <a:effectLst/>
                          <a:latin typeface="quote-cjk-patch"/>
                          <a:ea typeface="+mn-ea"/>
                          <a:cs typeface="+mn-cs"/>
                        </a:rPr>
                        <a:t>каталога автомобилей с фильтрацией по марке, модели, типу кузова, цене, году выпуска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6638285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800" b="0" kern="1200" dirty="0" smtClean="0">
                          <a:solidFill>
                            <a:schemeClr val="dk1"/>
                          </a:solidFill>
                          <a:effectLst/>
                          <a:latin typeface="quote-cjk-patch"/>
                          <a:ea typeface="+mn-ea"/>
                          <a:cs typeface="+mn-cs"/>
                        </a:rPr>
                        <a:t>2</a:t>
                      </a:r>
                      <a:endParaRPr lang="ru-RU" sz="1800" b="0" kern="1200" dirty="0">
                        <a:solidFill>
                          <a:schemeClr val="dk1"/>
                        </a:solidFill>
                        <a:effectLst/>
                        <a:latin typeface="quote-cjk-patch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800" b="0" kern="1200" dirty="0" smtClean="0">
                          <a:solidFill>
                            <a:schemeClr val="dk1"/>
                          </a:solidFill>
                          <a:effectLst/>
                          <a:latin typeface="quote-cjk-patch"/>
                          <a:ea typeface="+mn-ea"/>
                          <a:cs typeface="+mn-cs"/>
                        </a:rPr>
                        <a:t>Поиск автомобилей по названию и описанию</a:t>
                      </a:r>
                      <a:endParaRPr lang="ru-RU" sz="1800" b="0" kern="1200" dirty="0">
                        <a:solidFill>
                          <a:schemeClr val="dk1"/>
                        </a:solidFill>
                        <a:effectLst/>
                        <a:latin typeface="quote-cjk-patch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97273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800" b="0" kern="1200" dirty="0" smtClean="0">
                          <a:solidFill>
                            <a:schemeClr val="dk1"/>
                          </a:solidFill>
                          <a:effectLst/>
                          <a:latin typeface="quote-cjk-patch"/>
                          <a:ea typeface="+mn-ea"/>
                          <a:cs typeface="+mn-cs"/>
                        </a:rPr>
                        <a:t>3</a:t>
                      </a:r>
                      <a:endParaRPr lang="ru-RU" sz="1800" b="0" kern="1200" dirty="0">
                        <a:solidFill>
                          <a:schemeClr val="dk1"/>
                        </a:solidFill>
                        <a:effectLst/>
                        <a:latin typeface="quote-cjk-patch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800" b="0" kern="1200" dirty="0" smtClean="0">
                          <a:solidFill>
                            <a:schemeClr val="dk1"/>
                          </a:solidFill>
                          <a:effectLst/>
                          <a:latin typeface="quote-cjk-patch"/>
                          <a:ea typeface="+mn-ea"/>
                          <a:cs typeface="+mn-cs"/>
                        </a:rPr>
                        <a:t>Сортировка автомобилей (по цене, году выпуска, популярности)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14996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800" b="0" kern="1200" dirty="0" smtClean="0">
                          <a:solidFill>
                            <a:schemeClr val="dk1"/>
                          </a:solidFill>
                          <a:effectLst/>
                          <a:latin typeface="quote-cjk-patch"/>
                          <a:ea typeface="+mn-ea"/>
                          <a:cs typeface="+mn-cs"/>
                        </a:rPr>
                        <a:t>4</a:t>
                      </a:r>
                      <a:endParaRPr lang="ru-RU" sz="1800" b="0" kern="1200" dirty="0">
                        <a:solidFill>
                          <a:schemeClr val="dk1"/>
                        </a:solidFill>
                        <a:effectLst/>
                        <a:latin typeface="quote-cjk-patch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800" b="0" kern="1200" dirty="0" smtClean="0">
                          <a:solidFill>
                            <a:schemeClr val="dk1"/>
                          </a:solidFill>
                          <a:effectLst/>
                          <a:latin typeface="quote-cjk-patch"/>
                          <a:ea typeface="+mn-ea"/>
                          <a:cs typeface="+mn-cs"/>
                        </a:rPr>
                        <a:t>Регистрация и авторизация пользователей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7431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800" b="0" kern="1200" dirty="0" smtClean="0">
                          <a:solidFill>
                            <a:schemeClr val="dk1"/>
                          </a:solidFill>
                          <a:effectLst/>
                          <a:latin typeface="quote-cjk-patch"/>
                          <a:ea typeface="+mn-ea"/>
                          <a:cs typeface="+mn-cs"/>
                        </a:rPr>
                        <a:t>5</a:t>
                      </a:r>
                      <a:endParaRPr lang="ru-RU" sz="1800" b="0" kern="1200" dirty="0">
                        <a:solidFill>
                          <a:schemeClr val="dk1"/>
                        </a:solidFill>
                        <a:effectLst/>
                        <a:latin typeface="quote-cjk-patch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800" b="0" kern="1200" dirty="0" smtClean="0">
                          <a:solidFill>
                            <a:schemeClr val="dk1"/>
                          </a:solidFill>
                          <a:effectLst/>
                          <a:latin typeface="quote-cjk-patch"/>
                          <a:ea typeface="+mn-ea"/>
                          <a:cs typeface="+mn-cs"/>
                        </a:rPr>
                        <a:t>Добавление автомобилей в корзину и избранное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7121071"/>
                  </a:ext>
                </a:extLst>
              </a:tr>
            </a:tbl>
          </a:graphicData>
        </a:graphic>
      </p:graphicFrame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1552534"/>
              </p:ext>
            </p:extLst>
          </p:nvPr>
        </p:nvGraphicFramePr>
        <p:xfrm>
          <a:off x="5725885" y="1546980"/>
          <a:ext cx="4971144" cy="44932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8790">
                  <a:extLst>
                    <a:ext uri="{9D8B030D-6E8A-4147-A177-3AD203B41FA5}">
                      <a16:colId xmlns:a16="http://schemas.microsoft.com/office/drawing/2014/main" val="2793986795"/>
                    </a:ext>
                  </a:extLst>
                </a:gridCol>
                <a:gridCol w="3722354">
                  <a:extLst>
                    <a:ext uri="{9D8B030D-6E8A-4147-A177-3AD203B41FA5}">
                      <a16:colId xmlns:a16="http://schemas.microsoft.com/office/drawing/2014/main" val="56881690"/>
                    </a:ext>
                  </a:extLst>
                </a:gridCol>
              </a:tblGrid>
              <a:tr h="387259">
                <a:tc>
                  <a:txBody>
                    <a:bodyPr/>
                    <a:lstStyle/>
                    <a:p>
                      <a:r>
                        <a:rPr lang="ru-RU" dirty="0" smtClean="0"/>
                        <a:t>№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Функция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0522701"/>
                  </a:ext>
                </a:extLst>
              </a:tr>
              <a:tr h="954884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800" b="0" kern="1200" dirty="0" smtClean="0">
                          <a:solidFill>
                            <a:schemeClr val="dk1"/>
                          </a:solidFill>
                          <a:effectLst/>
                          <a:latin typeface="quote-cjk-patch"/>
                          <a:ea typeface="+mn-ea"/>
                          <a:cs typeface="+mn-cs"/>
                        </a:rPr>
                        <a:t>1</a:t>
                      </a:r>
                      <a:endParaRPr lang="ru-RU" sz="1800" b="0" kern="1200" dirty="0">
                        <a:solidFill>
                          <a:schemeClr val="dk1"/>
                        </a:solidFill>
                        <a:effectLst/>
                        <a:latin typeface="quote-cjk-patch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800" b="0" kern="1200" dirty="0" smtClean="0">
                          <a:solidFill>
                            <a:schemeClr val="dk1"/>
                          </a:solidFill>
                          <a:effectLst/>
                          <a:latin typeface="quote-cjk-patch"/>
                          <a:ea typeface="+mn-ea"/>
                          <a:cs typeface="+mn-cs"/>
                        </a:rPr>
                        <a:t>Управление автомобилями (изображения, цена, скидка, остаток)</a:t>
                      </a:r>
                      <a:endParaRPr lang="ru-RU" sz="1800" b="0" kern="1200" dirty="0">
                        <a:solidFill>
                          <a:schemeClr val="dk1"/>
                        </a:solidFill>
                        <a:effectLst/>
                        <a:latin typeface="quote-cjk-patch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3828575"/>
                  </a:ext>
                </a:extLst>
              </a:tr>
              <a:tr h="954884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800" b="0" kern="1200" dirty="0" smtClean="0">
                          <a:solidFill>
                            <a:schemeClr val="dk1"/>
                          </a:solidFill>
                          <a:effectLst/>
                          <a:latin typeface="quote-cjk-patch"/>
                          <a:ea typeface="+mn-ea"/>
                          <a:cs typeface="+mn-cs"/>
                        </a:rPr>
                        <a:t>2</a:t>
                      </a:r>
                      <a:endParaRPr lang="ru-RU" sz="1800" b="0" kern="1200" dirty="0">
                        <a:solidFill>
                          <a:schemeClr val="dk1"/>
                        </a:solidFill>
                        <a:effectLst/>
                        <a:latin typeface="quote-cjk-patch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800" b="0" kern="1200" dirty="0" smtClean="0">
                          <a:solidFill>
                            <a:schemeClr val="dk1"/>
                          </a:solidFill>
                          <a:effectLst/>
                          <a:latin typeface="quote-cjk-patch"/>
                          <a:ea typeface="+mn-ea"/>
                          <a:cs typeface="+mn-cs"/>
                        </a:rPr>
                        <a:t>Управление справочниками (производители, страны, типы кузова, двигателя, КПП, цвета)</a:t>
                      </a:r>
                      <a:endParaRPr lang="ru-RU" sz="1800" b="0" kern="1200" dirty="0">
                        <a:solidFill>
                          <a:schemeClr val="dk1"/>
                        </a:solidFill>
                        <a:effectLst/>
                        <a:latin typeface="quote-cjk-patch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9727301"/>
                  </a:ext>
                </a:extLst>
              </a:tr>
              <a:tr h="668419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800" b="0" kern="1200" dirty="0" smtClean="0">
                          <a:solidFill>
                            <a:schemeClr val="dk1"/>
                          </a:solidFill>
                          <a:effectLst/>
                          <a:latin typeface="quote-cjk-patch"/>
                          <a:ea typeface="+mn-ea"/>
                          <a:cs typeface="+mn-cs"/>
                        </a:rPr>
                        <a:t>3</a:t>
                      </a:r>
                      <a:endParaRPr lang="ru-RU" sz="1800" b="0" kern="1200" dirty="0">
                        <a:solidFill>
                          <a:schemeClr val="dk1"/>
                        </a:solidFill>
                        <a:effectLst/>
                        <a:latin typeface="quote-cjk-patch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800" b="0" kern="1200" dirty="0" smtClean="0">
                          <a:solidFill>
                            <a:schemeClr val="dk1"/>
                          </a:solidFill>
                          <a:effectLst/>
                          <a:latin typeface="quote-cjk-patch"/>
                          <a:ea typeface="+mn-ea"/>
                          <a:cs typeface="+mn-cs"/>
                        </a:rPr>
                        <a:t>Управление заказами (просмотр, поиск, изменение статусов)</a:t>
                      </a:r>
                      <a:endParaRPr lang="ru-RU" sz="1800" b="0" kern="1200" dirty="0">
                        <a:solidFill>
                          <a:schemeClr val="dk1"/>
                        </a:solidFill>
                        <a:effectLst/>
                        <a:latin typeface="quote-cjk-patch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1499615"/>
                  </a:ext>
                </a:extLst>
              </a:tr>
              <a:tr h="1527814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800" b="0" kern="1200" dirty="0" smtClean="0">
                          <a:solidFill>
                            <a:schemeClr val="dk1"/>
                          </a:solidFill>
                          <a:effectLst/>
                          <a:latin typeface="quote-cjk-patch"/>
                          <a:ea typeface="+mn-ea"/>
                          <a:cs typeface="+mn-cs"/>
                        </a:rPr>
                        <a:t>4</a:t>
                      </a:r>
                      <a:endParaRPr lang="ru-RU" sz="1800" b="0" kern="1200" dirty="0">
                        <a:solidFill>
                          <a:schemeClr val="dk1"/>
                        </a:solidFill>
                        <a:effectLst/>
                        <a:latin typeface="quote-cjk-patch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800" b="0" kern="1200" dirty="0" smtClean="0">
                          <a:solidFill>
                            <a:schemeClr val="dk1"/>
                          </a:solidFill>
                          <a:effectLst/>
                          <a:latin typeface="quote-cjk-patch"/>
                          <a:ea typeface="+mn-ea"/>
                          <a:cs typeface="+mn-cs"/>
                        </a:rPr>
                        <a:t>Управление поставками (создание, редактирование, изменение статуса, автоматическое обновление остатков)</a:t>
                      </a:r>
                      <a:endParaRPr lang="ru-RU" sz="1800" b="0" kern="1200" dirty="0">
                        <a:solidFill>
                          <a:schemeClr val="dk1"/>
                        </a:solidFill>
                        <a:effectLst/>
                        <a:latin typeface="quote-cjk-patch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5595489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580571" y="853049"/>
            <a:ext cx="45502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Функции веб-приложения (клиентская часть)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987" y="806882"/>
            <a:ext cx="32947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/>
              <a:t>Функции </a:t>
            </a:r>
            <a:r>
              <a:rPr lang="en-US" b="1"/>
              <a:t>WPF-</a:t>
            </a:r>
            <a:r>
              <a:rPr lang="ru-RU" b="1"/>
              <a:t>приложения (административная часть)</a:t>
            </a:r>
          </a:p>
        </p:txBody>
      </p:sp>
      <p:sp>
        <p:nvSpPr>
          <p:cNvPr id="10" name="Номер слайда 9"/>
          <p:cNvSpPr>
            <a:spLocks noGrp="1"/>
          </p:cNvSpPr>
          <p:nvPr>
            <p:ph type="sldNum" sz="quarter" idx="12"/>
          </p:nvPr>
        </p:nvSpPr>
        <p:spPr>
          <a:xfrm>
            <a:off x="8596086" y="6492875"/>
            <a:ext cx="2743200" cy="365125"/>
          </a:xfrm>
        </p:spPr>
        <p:txBody>
          <a:bodyPr/>
          <a:lstStyle/>
          <a:p>
            <a:fld id="{D57F1E4F-1CFF-5643-939E-217C01CDF565}" type="slidenum">
              <a:rPr lang="en-US" sz="1600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1889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2">
            <a:extLst>
              <a:ext uri="{FF2B5EF4-FFF2-40B4-BE49-F238E27FC236}">
                <a16:creationId xmlns:a16="http://schemas.microsoft.com/office/drawing/2014/main" id="{1D5387C5-E747-4729-8988-4E564477A04E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-708074" y="0"/>
            <a:ext cx="7441809" cy="853049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ru-RU" sz="2800" b="1" dirty="0">
                <a:solidFill>
                  <a:schemeClr val="bg1"/>
                </a:solidFill>
                <a:latin typeface="Verdana"/>
                <a:ea typeface="Verdana"/>
                <a:cs typeface="Times New Roman"/>
              </a:rPr>
              <a:t>Заключение</a:t>
            </a:r>
            <a:endParaRPr sz="7200" b="1" dirty="0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148115" y="1335315"/>
            <a:ext cx="7460343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Вывод</a:t>
            </a:r>
          </a:p>
          <a:p>
            <a:pPr algn="ctr"/>
            <a:r>
              <a:rPr lang="ru-RU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С </a:t>
            </a: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учётом выполнения всех поставленных задач, цель — разработать комплексную систему «</a:t>
            </a:r>
            <a:r>
              <a:rPr lang="ru-RU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CarDelership</a:t>
            </a: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» для автоматизации </a:t>
            </a:r>
            <a:r>
              <a:rPr lang="ru-RU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интернет-торговли</a:t>
            </a: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 автомобилями — была выполнена успешно</a:t>
            </a:r>
            <a:r>
              <a:rPr lang="ru-RU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  <a:p>
            <a:pPr algn="ctr"/>
            <a:endParaRPr lang="ru-RU" sz="2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ctr"/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Система готова к внедрению и </a:t>
            </a:r>
            <a:r>
              <a:rPr lang="ru-RU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дальнейшему развитию </a:t>
            </a: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(мобильное приложение, интеграция с платёжными системами, модуль записи на тест-драйв</a:t>
            </a: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).</a:t>
            </a:r>
            <a:endParaRPr lang="ru-RU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1" name="Номер слайда 10"/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D57F1E4F-1CFF-5643-939E-217C01CDF565}" type="slidenum">
              <a:rPr lang="en-US" sz="1600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72484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22035EA-BBE4-45B8-9B7D-BC6FBD99A14C}"/>
              </a:ext>
            </a:extLst>
          </p:cNvPr>
          <p:cNvSpPr/>
          <p:nvPr/>
        </p:nvSpPr>
        <p:spPr bwMode="auto">
          <a:xfrm>
            <a:off x="1997611" y="0"/>
            <a:ext cx="7665663" cy="17983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1600" dirty="0">
                <a:solidFill>
                  <a:srgbClr val="0070C0"/>
                </a:solidFill>
                <a:latin typeface="Verdana"/>
                <a:ea typeface="Verdana"/>
                <a:cs typeface="Times New Roman"/>
              </a:rPr>
              <a:t>ПРАВИТЕЛЬСТВО САНКТ-ПЕТЕРБУРГА</a:t>
            </a:r>
            <a:endParaRPr dirty="0"/>
          </a:p>
          <a:p>
            <a:pPr algn="ctr">
              <a:defRPr/>
            </a:pPr>
            <a:r>
              <a:rPr lang="ru-RU" sz="1600" dirty="0">
                <a:solidFill>
                  <a:srgbClr val="0070C0"/>
                </a:solidFill>
                <a:latin typeface="Verdana"/>
                <a:ea typeface="Verdana"/>
                <a:cs typeface="Times New Roman"/>
              </a:rPr>
              <a:t>КОМИТЕТ ПО НАУКЕ И ВЫСШЕЙ ШКОЛЕ</a:t>
            </a:r>
            <a:endParaRPr dirty="0"/>
          </a:p>
          <a:p>
            <a:pPr algn="ctr">
              <a:defRPr/>
            </a:pPr>
            <a:r>
              <a:rPr lang="ru-RU" sz="1600" dirty="0">
                <a:solidFill>
                  <a:srgbClr val="0070C0"/>
                </a:solidFill>
                <a:latin typeface="Verdana"/>
                <a:ea typeface="Verdana"/>
                <a:cs typeface="Times New Roman"/>
              </a:rPr>
              <a:t>Санкт-Петербургское государственное бюджетное</a:t>
            </a:r>
            <a:endParaRPr dirty="0"/>
          </a:p>
          <a:p>
            <a:pPr algn="ctr">
              <a:defRPr/>
            </a:pPr>
            <a:r>
              <a:rPr lang="ru-RU" sz="1600" dirty="0">
                <a:solidFill>
                  <a:srgbClr val="0070C0"/>
                </a:solidFill>
                <a:latin typeface="Verdana"/>
                <a:ea typeface="Verdana"/>
                <a:cs typeface="Times New Roman"/>
              </a:rPr>
              <a:t>профессиональное образовательное учреждение</a:t>
            </a:r>
            <a:endParaRPr dirty="0"/>
          </a:p>
          <a:p>
            <a:pPr algn="ctr">
              <a:defRPr/>
            </a:pPr>
            <a:r>
              <a:rPr lang="ru-RU" sz="1600" dirty="0">
                <a:solidFill>
                  <a:srgbClr val="0070C0"/>
                </a:solidFill>
                <a:latin typeface="Verdana"/>
                <a:ea typeface="Verdana"/>
                <a:cs typeface="Times New Roman"/>
              </a:rPr>
              <a:t>«ПЕТРОВСКИЙ КОЛЛЕДЖ»</a:t>
            </a:r>
            <a:endParaRPr dirty="0"/>
          </a:p>
          <a:p>
            <a:pPr algn="ctr">
              <a:defRPr/>
            </a:pPr>
            <a:r>
              <a:rPr lang="ru-RU" sz="1600" dirty="0">
                <a:solidFill>
                  <a:srgbClr val="0070C0"/>
                </a:solidFill>
                <a:latin typeface="Verdana"/>
                <a:ea typeface="Verdana"/>
                <a:cs typeface="Times New Roman"/>
              </a:rPr>
              <a:t>(СПб ГБПОУ «Петровский колледж»)</a:t>
            </a:r>
            <a:endParaRPr dirty="0"/>
          </a:p>
          <a:p>
            <a:pPr algn="ctr">
              <a:defRPr/>
            </a:pPr>
            <a:r>
              <a:rPr lang="ru-RU" sz="1600" dirty="0">
                <a:solidFill>
                  <a:srgbClr val="0070C0"/>
                </a:solidFill>
                <a:latin typeface="Verdana"/>
                <a:ea typeface="Verdana"/>
                <a:cs typeface="Times New Roman"/>
              </a:rPr>
              <a:t>Отделение информационных технологий</a:t>
            </a:r>
            <a:endParaRPr dirty="0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20050A62-F9BB-4AEE-83D3-351A68F10EE0}"/>
              </a:ext>
            </a:extLst>
          </p:cNvPr>
          <p:cNvSpPr>
            <a:spLocks noGrp="1"/>
          </p:cNvSpPr>
          <p:nvPr>
            <p:ph type="ctrTitle"/>
          </p:nvPr>
        </p:nvSpPr>
        <p:spPr bwMode="auto">
          <a:xfrm>
            <a:off x="1969476" y="2523742"/>
            <a:ext cx="9144000" cy="1324547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ru-RU" sz="2800" dirty="0">
                <a:solidFill>
                  <a:schemeClr val="bg1"/>
                </a:solidFill>
                <a:latin typeface="Verdana"/>
                <a:ea typeface="Verdana"/>
                <a:cs typeface="Times New Roman"/>
              </a:rPr>
              <a:t>Проект по учебной практике</a:t>
            </a:r>
            <a:br>
              <a:rPr lang="ru-RU" sz="2800" dirty="0">
                <a:solidFill>
                  <a:schemeClr val="bg1"/>
                </a:solidFill>
                <a:latin typeface="Verdana"/>
                <a:ea typeface="Verdana"/>
                <a:cs typeface="Times New Roman"/>
              </a:rPr>
            </a:br>
            <a:r>
              <a:rPr lang="ru-RU" sz="2800" b="1" dirty="0">
                <a:solidFill>
                  <a:schemeClr val="bg1"/>
                </a:solidFill>
                <a:latin typeface="Verdana"/>
                <a:ea typeface="Verdana"/>
                <a:cs typeface="Times New Roman"/>
              </a:rPr>
              <a:t>Разработка сайта и веб приложения </a:t>
            </a:r>
            <a:r>
              <a:rPr lang="ru-RU" sz="2900" b="1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«</a:t>
            </a:r>
            <a:r>
              <a:rPr lang="en-US" sz="2900" b="0" i="0" dirty="0" err="1" smtClean="0">
                <a:solidFill>
                  <a:srgbClr val="F9FAFB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CarDelership</a:t>
            </a:r>
            <a:r>
              <a:rPr lang="ru-RU" sz="2900" b="1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»</a:t>
            </a:r>
            <a:endParaRPr sz="29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522D25E2-AA89-4521-868E-E19DBAAEE7C6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auto">
          <a:xfrm>
            <a:off x="5442085" y="5462950"/>
            <a:ext cx="5759496" cy="323555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 fontScale="80000" lnSpcReduction="20000"/>
          </a:bodyPr>
          <a:lstStyle/>
          <a:p>
            <a:pPr>
              <a:defRPr/>
            </a:pPr>
            <a:r>
              <a:rPr lang="ru-RU" b="1" dirty="0">
                <a:solidFill>
                  <a:schemeClr val="bg1"/>
                </a:solidFill>
                <a:latin typeface="Verdana"/>
                <a:ea typeface="Verdana"/>
              </a:rPr>
              <a:t>Выполнил</a:t>
            </a:r>
            <a:r>
              <a:rPr lang="en-US" b="1" dirty="0">
                <a:solidFill>
                  <a:schemeClr val="bg1"/>
                </a:solidFill>
                <a:latin typeface="Verdana"/>
                <a:ea typeface="Verdana"/>
              </a:rPr>
              <a:t>: </a:t>
            </a:r>
            <a:r>
              <a:rPr lang="ru-RU" b="1" dirty="0" smtClean="0">
                <a:solidFill>
                  <a:schemeClr val="bg1"/>
                </a:solidFill>
                <a:latin typeface="Verdana"/>
                <a:ea typeface="Verdana"/>
              </a:rPr>
              <a:t>Царев</a:t>
            </a:r>
            <a:r>
              <a:rPr lang="ru-RU" b="1" dirty="0" smtClean="0">
                <a:solidFill>
                  <a:schemeClr val="bg1"/>
                </a:solidFill>
                <a:latin typeface="Verdana"/>
                <a:ea typeface="Verdana"/>
              </a:rPr>
              <a:t> А. Д.</a:t>
            </a:r>
            <a:endParaRPr b="1" dirty="0"/>
          </a:p>
        </p:txBody>
      </p:sp>
      <p:sp>
        <p:nvSpPr>
          <p:cNvPr id="9" name="Подзаголовок 2">
            <a:extLst>
              <a:ext uri="{FF2B5EF4-FFF2-40B4-BE49-F238E27FC236}">
                <a16:creationId xmlns:a16="http://schemas.microsoft.com/office/drawing/2014/main" id="{F7A3BACB-FE18-471E-A3CF-4E00D905550C}"/>
              </a:ext>
            </a:extLst>
          </p:cNvPr>
          <p:cNvSpPr txBox="1"/>
          <p:nvPr/>
        </p:nvSpPr>
        <p:spPr bwMode="auto">
          <a:xfrm>
            <a:off x="6531106" y="6005191"/>
            <a:ext cx="4670475" cy="32355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ctr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 b="1" dirty="0">
                <a:solidFill>
                  <a:schemeClr val="bg1"/>
                </a:solidFill>
                <a:latin typeface="Verdana"/>
                <a:ea typeface="Verdana"/>
              </a:rPr>
              <a:t>Руководитель</a:t>
            </a:r>
            <a:r>
              <a:rPr lang="en-US" b="1" dirty="0">
                <a:solidFill>
                  <a:schemeClr val="bg1"/>
                </a:solidFill>
                <a:latin typeface="Verdana"/>
                <a:ea typeface="Verdana"/>
              </a:rPr>
              <a:t>: </a:t>
            </a:r>
            <a:r>
              <a:rPr lang="ru-RU" b="1" dirty="0">
                <a:solidFill>
                  <a:schemeClr val="bg1"/>
                </a:solidFill>
                <a:latin typeface="Verdana"/>
                <a:ea typeface="Verdana"/>
              </a:rPr>
              <a:t>Сергеева М.С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4065250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1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Тема1" id="{9F4CC347-29A3-4293-864F-E25A6E169458}" vid="{F86C687B-A777-40CC-9C0C-5B47488FABC8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Тема1</Template>
  <TotalTime>7415</TotalTime>
  <Words>543</Words>
  <Application>Microsoft Office PowerPoint</Application>
  <PresentationFormat>Широкоэкранный</PresentationFormat>
  <Paragraphs>98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6" baseType="lpstr">
      <vt:lpstr>Arial</vt:lpstr>
      <vt:lpstr>Calibri</vt:lpstr>
      <vt:lpstr>Calibri Light</vt:lpstr>
      <vt:lpstr>quote-cjk-patch</vt:lpstr>
      <vt:lpstr>Times New Roman</vt:lpstr>
      <vt:lpstr>Verdana</vt:lpstr>
      <vt:lpstr>Тема1</vt:lpstr>
      <vt:lpstr>Проект по учебной практике Разработка сайта и веб приложения «CarDelership»</vt:lpstr>
      <vt:lpstr>Презентация PowerPoint</vt:lpstr>
      <vt:lpstr>Описание предметной области</vt:lpstr>
      <vt:lpstr>Презентация PowerPoint</vt:lpstr>
      <vt:lpstr>Инструментальные и системные программные средства</vt:lpstr>
      <vt:lpstr>Презентация PowerPoint</vt:lpstr>
      <vt:lpstr>Функции web и desktop приложения</vt:lpstr>
      <vt:lpstr>Заключение</vt:lpstr>
      <vt:lpstr>Проект по учебной практике Разработка сайта и веб приложения «CarDelership»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Маркетинговые исследования рынка образовательных услуг</dc:title>
  <dc:creator>Сидякина Анастасия Алексеевна</dc:creator>
  <cp:lastModifiedBy>Царев Алексей Дмитриевич</cp:lastModifiedBy>
  <cp:revision>110</cp:revision>
  <dcterms:created xsi:type="dcterms:W3CDTF">2023-01-30T07:02:12Z</dcterms:created>
  <dcterms:modified xsi:type="dcterms:W3CDTF">2026-04-24T08:53:55Z</dcterms:modified>
</cp:coreProperties>
</file>